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rawings/vmlDrawing1.vml" ContentType="application/vnd.openxmlformats-officedocument.vmlDrawing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Anton"/>
      <p:regular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AXUR/0WUAVO4HOAKJjIq3cmzi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5D0F97-6333-486B-9AAB-056A13099B66}">
  <a:tblStyle styleId="{155D0F97-6333-486B-9AAB-056A13099B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IBMPlexSans-regular.fntdata"/><Relationship Id="rId13" Type="http://schemas.openxmlformats.org/officeDocument/2006/relationships/font" Target="fonts/IBMPlexSans-bold.fntdata"/><Relationship Id="rId14" Type="http://schemas.openxmlformats.org/officeDocument/2006/relationships/font" Target="fonts/IBMPlexSans-italic.fntdata"/><Relationship Id="rId15" Type="http://schemas.openxmlformats.org/officeDocument/2006/relationships/font" Target="fonts/IBMPlexSans-boldItalic.fntdata"/><Relationship Id="rId16" Type="http://schemas.openxmlformats.org/officeDocument/2006/relationships/font" Target="fonts/Anton-regular.fntdata"/><Relationship Id="rId17" Type="http://schemas.openxmlformats.org/officeDocument/2006/relationships/font" Target="fonts/Montserrat-regular.fntdata"/><Relationship Id="rId18" Type="http://schemas.openxmlformats.org/officeDocument/2006/relationships/font" Target="fonts/Montserrat-bold.fntdata"/><Relationship Id="rId19" Type="http://schemas.openxmlformats.org/officeDocument/2006/relationships/font" Target="fonts/Montserrat-italic.fntdata"/><Relationship Id="rId20" Type="http://schemas.openxmlformats.org/officeDocument/2006/relationships/font" Target="fonts/Montserrat-boldItalic.fntdata"/><Relationship Id="rId21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Écart</c:v>
                </c:pt>
              </c:strCache>
            </c:strRef>
          </c:tx>
          <c:spPr>
            <a:solidFill>
              <a:srgbClr val="013AFB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M01AB</c:v>
                </c:pt>
                <c:pt idx="1">
                  <c:v>M01AE</c:v>
                </c:pt>
                <c:pt idx="2">
                  <c:v>N02BA</c:v>
                </c:pt>
                <c:pt idx="3">
                  <c:v>N02BE</c:v>
                </c:pt>
                <c:pt idx="4">
                  <c:v>N05B</c:v>
                </c:pt>
                <c:pt idx="5">
                  <c:v>N05C</c:v>
                </c:pt>
                <c:pt idx="6">
                  <c:v>R03</c:v>
                </c:pt>
                <c:pt idx="7">
                  <c:v>R06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-35.2</c:v>
                </c:pt>
                <c:pt idx="1">
                  <c:v>-41.2</c:v>
                </c:pt>
                <c:pt idx="2">
                  <c:v>-26.4</c:v>
                </c:pt>
                <c:pt idx="3">
                  <c:v>-42.8</c:v>
                </c:pt>
                <c:pt idx="4">
                  <c:v>-8.5</c:v>
                </c:pt>
                <c:pt idx="5">
                  <c:v>-35.3</c:v>
                </c:pt>
                <c:pt idx="6">
                  <c:v>-12.3</c:v>
                </c:pt>
                <c:pt idx="7">
                  <c:v>-37.3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C9CF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</c:scaling>
        <c:delete val="0"/>
        <c:axPos val="b"/>
        <c:majorGridlines>
          <c:spPr>
            <a:ln>
              <a:solidFill>
                <a:srgbClr val="E1E5EE"/>
              </a:solidFill>
            </a:ln>
          </c:spPr>
        </c:majorGridlines>
        <c:numFmt formatCode="0&quot; 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3D4553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Mina</a:t>
            </a:r>
          </a:p>
          <a:p/>
          <a:p>
            <a:r>
              <a:t>[Deck Manager · slide 1 – 0:00 à 0:35]</a:t>
            </a:r>
          </a:p>
          <a:p>
            <a:r>
              <a:t>Bonjour. Votre question de départ : « l'analyse tient-elle la route, et peut-on vendre une mission de suivi ? », et « peut-on prévoir, pour chaque groupe, les ventes du mois suivant ? »</a:t>
            </a:r>
          </a:p>
          <a:p>
            <a:r>
              <a:t>La réponse est sur cette slide : oui pour 3 groupes sur 8, soit 64 % des volumes. Je vais vous expliquer comment nous y sommes arrivées, ce que nous avons retenu, ce que nous avons écarté, et pourquoi.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Mina</a:t>
            </a:r>
          </a:p>
          <a:p/>
          <a:p>
            <a:r>
              <a:t>[Deck Manager · slide 2 + classeur Pharmacie_Analyse, onglet Qualite_donnees (lignes 13 à 21) – 0:35 à 1:35]</a:t>
            </a:r>
          </a:p>
          <a:p>
            <a:r>
              <a:t>Nous sommes parties de quatre exports bruts, rangés dans l'Excel data pharmacie : ventes par heure, par jour, par semaine, par mois. Le brief prévenait que personne n'avait vérifié qu'ils concordaient.</a:t>
            </a:r>
          </a:p>
          <a:p>
            <a:r>
              <a:t>Le réflexe aurait été d'utiliser l'export mensuel, le plus simple. Nous l'avons écarté, car nous avons d'abord recalculé chaque fichier à partir d'un autre. Les heures additionnées redonnent exactement les jours, les jours redonnent exactement les semaines — mais pas les mois : 45 cases sur 560 ne collent pas. En octobre 2014, l'export mensuel annonce 1 830 unités de paracétamol, la somme des jours 1 046 : 43 % d'écart.</a:t>
            </a:r>
          </a:p>
          <a:p>
            <a:r>
              <a:t>Nous avons donc retenu le journalier comme source unique : 2 106 jours, aucun manquant, soit 68 mois complets. Hypothèses déclarées : unité non documentée, ni prix ni stock.</a:t>
            </a:r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Mina</a:t>
            </a:r>
          </a:p>
          <a:p/>
          <a:p>
            <a:r>
              <a:t>[Deck Manager · slide 3 (graphique du test) – 1:35 à 3:00]</a:t>
            </a:r>
          </a:p>
          <a:p>
            <a:r>
              <a:t>Le cœur de la démarche : comment juger une prévision ? Le réflexe serait de regarder si la courbe « colle ». Nous l'avons écarté : une courbe peut avoir l'air juste et se tromper plus qu'une règle simple.</a:t>
            </a:r>
          </a:p>
          <a:p>
            <a:r>
              <a:t>Nous avons fait un vrai test. Placées début 2017, sans connaître la suite, nous prévoyons chacun des 33 mois suivants avec le seul passé, puis nous comparons à la réalité — et à la méthode que n'importe qui appliquerait : « le mois prochain sera comme le mois dernier ».</a:t>
            </a:r>
          </a:p>
          <a:p>
            <a:r>
              <a:t>Le graphique se lit ainsi : gris, l'erreur de la méthode simple ; bleu, notre modèle, qui tient compte de la tendance et de la saison ; orange, la tendance de l'onglet Stocks. Plus c'est bas, mieux c'est.</a:t>
            </a:r>
          </a:p>
          <a:p>
            <a:r>
              <a:t>Le modèle gagne pour trois groupes : le paracétamol passe de 23 à 17 % d'erreur, M01AB de 11 à 7,5 %, M01AE de 15 à 12 %. R06 progresse mais reste à 21 % : sous réserve. Pour N02BA et N05B, la méthode simple suffit ; N05C et R03 sont trop irréguliers. La tendance de Stocks fait moins bien presque partout. Un contre-test sur 24 mois, avec une autre méthode, retient les mêmes groupes.</a:t>
            </a:r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Mina</a:t>
            </a:r>
          </a:p>
          <a:p/>
          <a:p>
            <a:r>
              <a:t>[Deck Manager · slide 4, puis classeur Pharmacie_Analyse : onglets Accueil, Statistiques, Recherche – 3:00 à 4:15]</a:t>
            </a:r>
          </a:p>
          <a:p>
            <a:r>
              <a:t>Pour que le client n'ait pas besoin de nous : chaque mois il renvoie ses fichiers, les contrôles les comparent, le code recalcule, le classeur se met à jour — Excel 365, sans macro.</a:t>
            </a:r>
          </a:p>
          <a:p>
            <a:r>
              <a:t>Je vous le montre : l'Accueil affiche 129 048 unités vendues, 61 par jour ; l'onglet Statistiques donne les preuves par groupe ; l'onglet Recherche filtre un groupe et une période en deux clics.</a:t>
            </a:r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Mina</a:t>
            </a:r>
          </a:p>
          <a:p/>
          <a:p>
            <a:r>
              <a:t>[Deck Manager · slide 5 – 4:15 à 5:00]</a:t>
            </a:r>
          </a:p>
          <a:p>
            <a:r>
              <a:t>Pour conclure : oui, l'analyse tient, car les données ont été vérifiées avant d'être utilisées ; et oui, la mission est vendable, sur un périmètre précis : prévoir M01AB, M01AE et N02BE, R06 sous réserve, avec le test rejoué à chaque export.</a:t>
            </a:r>
          </a:p>
          <a:p>
            <a:r>
              <a:t>Sur le laboratoire : accepter, sous quatre conditions — données au mois, contrat écrit, remise indépendante, avis juridique.</a:t>
            </a:r>
          </a:p>
          <a:p>
            <a:r>
              <a:t>Trois limites : aucun prix, aucun stock, données arrêtées en 2019. Notre recommandation : signer la mission de suivi. Merci, je prends vos questions.</a:t>
            </a:r>
          </a:p>
        </p:txBody>
      </p:sp>
      <p:sp>
        <p:nvSpPr>
          <p:cNvPr id="211" name="Google Shape;2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package" Target="../embeddings/Microsoft_Excel_Sheet2.xlsx"/><Relationship Id="rId5" Type="http://schemas.openxmlformats.org/officeDocument/2006/relationships/package" Target="../embeddings/Microsoft_Excel_Sheet2.xlsx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A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92240" y="0"/>
            <a:ext cx="2651760" cy="11887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303520" y="1188720"/>
            <a:ext cx="1188720" cy="11887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132588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739053" y="308610"/>
            <a:ext cx="450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F08C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 MBA promo 2028 – Groupe les 3 M &gt;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20040" y="594360"/>
            <a:ext cx="7600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Deck manager</a:t>
            </a:r>
            <a:r>
              <a:rPr b="0" i="0" lang="en-US" sz="4400" u="none" cap="none" strike="noStrike">
                <a:solidFill>
                  <a:srgbClr val="F05028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20040" y="1600000"/>
            <a:ext cx="500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00F08C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Analyse des ventes pharmaceutiques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92024" y="2470000"/>
            <a:ext cx="280508" cy="329183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40080" y="2400000"/>
            <a:ext cx="7900000" cy="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Ventes prévisibles pour 3 groupes sur 8, soit 64 % des volumes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640080" y="3050000"/>
            <a:ext cx="2520000" cy="1000000"/>
          </a:xfrm>
          <a:prstGeom prst="rect">
            <a:avLst/>
          </a:prstGeom>
          <a:solidFill>
            <a:srgbClr val="1E46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40080" y="3050000"/>
            <a:ext cx="2520000" cy="4572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90080" y="3130000"/>
            <a:ext cx="23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68 mois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90080" y="3560000"/>
            <a:ext cx="23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3E9F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complets exploitables (févr. 2014 à sept. 2019)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3340080" y="3050000"/>
            <a:ext cx="2520000" cy="1000000"/>
          </a:xfrm>
          <a:prstGeom prst="rect">
            <a:avLst/>
          </a:prstGeom>
          <a:solidFill>
            <a:srgbClr val="1E46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340080" y="3050000"/>
            <a:ext cx="2520000" cy="4572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490080" y="3130000"/>
            <a:ext cx="23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 sur 4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3490080" y="3560000"/>
            <a:ext cx="23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3E9F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contrôles croisés des exports concordants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6040080" y="3050000"/>
            <a:ext cx="2520000" cy="1000000"/>
          </a:xfrm>
          <a:prstGeom prst="rect">
            <a:avLst/>
          </a:prstGeom>
          <a:solidFill>
            <a:srgbClr val="1E46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6040080" y="3050000"/>
            <a:ext cx="2520000" cy="4572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190080" y="3130000"/>
            <a:ext cx="23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 sur 8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6190080" y="3560000"/>
            <a:ext cx="23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3E9FD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groupes prévisibles le mois suivant, soit 64 % des volumes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40080" y="425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 u="none" cap="none" strike="noStrike">
                <a:solidFill>
                  <a:srgbClr val="00F08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Recommandation 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signer une mission de suivi centrée sur M01AB, M01AE et N02BE.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2"/>
          <p:cNvCxnSpPr/>
          <p:nvPr/>
        </p:nvCxnSpPr>
        <p:spPr>
          <a:xfrm>
            <a:off x="0" y="54864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1" name="Google Shape;111;p2"/>
          <p:cNvCxnSpPr/>
          <p:nvPr/>
        </p:nvCxnSpPr>
        <p:spPr>
          <a:xfrm flipH="1" rot="10800000">
            <a:off x="0" y="384048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2" name="Google Shape;112;p2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État des données</a:t>
            </a:r>
            <a:r>
              <a:rPr b="0" i="0" lang="en-US" sz="2400" u="none" cap="none" strike="noStrike">
                <a:solidFill>
                  <a:srgbClr val="00F08C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685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Manager  ·  Ventes 2014-2019, 8 groupes ATC, volumes dans l'unité du logiciel de caisse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320040" y="1000000"/>
            <a:ext cx="4176000" cy="3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30040" y="1000000"/>
            <a:ext cx="401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Octobre 2014 : export mensuel vs somme des journées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230040" y="1520000"/>
            <a:ext cx="2542000" cy="285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320040" y="1400000"/>
            <a:ext cx="4100000" cy="285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390040" y="1470000"/>
            <a:ext cx="3960000" cy="27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2"/>
          <p:cNvGraphicFramePr/>
          <p:nvPr/>
        </p:nvGraphicFramePr>
        <p:xfrm>
          <a:off x="430040" y="1490000"/>
          <a:ext cx="3880000" cy="2690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3" name="Google Shape;123;p2"/>
          <p:cNvSpPr/>
          <p:nvPr/>
        </p:nvSpPr>
        <p:spPr>
          <a:xfrm>
            <a:off x="4720000" y="1000000"/>
            <a:ext cx="2656000" cy="3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4830000" y="1000000"/>
            <a:ext cx="249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Contrôles croisés des 4 exports</a:t>
            </a:r>
            <a:endParaRPr/>
          </a:p>
        </p:txBody>
      </p:sp>
      <p:graphicFrame>
        <p:nvGraphicFramePr>
          <p:cNvPr id="125" name="Google Shape;125;p2"/>
          <p:cNvGraphicFramePr/>
          <p:nvPr/>
        </p:nvGraphicFramePr>
        <p:xfrm>
          <a:off x="4720000" y="14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{155D0F97-6333-486B-9AAB-056A13099B66}</a:tableStyleId>
              </a:tblPr>
              <a:tblGrid>
                <a:gridCol w="1476000"/>
                <a:gridCol w="1886000"/>
                <a:gridCol w="738000"/>
              </a:tblGrid>
              <a:tr h="4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Contrôle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013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Résultat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013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Statut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013AFB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Horaire &gt; jour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Identiques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OK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Journalier &gt; semaine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Identiques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OK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Journalier &gt; mois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45 cellules sur 560 en écart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Écart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Série journalière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2 106 jours, aucun manquant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OK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2"/>
          <p:cNvSpPr txBox="1"/>
          <p:nvPr/>
        </p:nvSpPr>
        <p:spPr>
          <a:xfrm>
            <a:off x="4720000" y="3560000"/>
            <a:ext cx="41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D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Limites de l'export : unité des quantités non documentée, aucun prix, aucun stock.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320040" y="4420000"/>
            <a:ext cx="8503920" cy="4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320040" y="4420000"/>
            <a:ext cx="64008" cy="42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520000" y="4420000"/>
            <a:ext cx="820392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Décision : l'export journalier est la source unique (identique à l'onglet Historique du classeur).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3"/>
          <p:cNvCxnSpPr/>
          <p:nvPr/>
        </p:nvCxnSpPr>
        <p:spPr>
          <a:xfrm>
            <a:off x="0" y="54864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5" name="Google Shape;135;p3"/>
          <p:cNvCxnSpPr/>
          <p:nvPr/>
        </p:nvCxnSpPr>
        <p:spPr>
          <a:xfrm flipH="1" rot="10800000">
            <a:off x="0" y="384048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6" name="Google Shape;136;p3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Test de prévision</a:t>
            </a:r>
            <a:r>
              <a:rPr b="0" i="0" lang="en-US" sz="2400" u="none" cap="none" strike="noStrike">
                <a:solidFill>
                  <a:srgbClr val="00F08C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685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Manager  ·  Ventes 2014-2019, 8 groupes ATC, volumes dans l'unité du logiciel de caisse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320040" y="1000000"/>
            <a:ext cx="5620000" cy="3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430040" y="1000000"/>
            <a:ext cx="54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Erreur de prévision sur 33 mois non utilisés pour construire le modèle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230040" y="1520000"/>
            <a:ext cx="3286000" cy="29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320040" y="1400000"/>
            <a:ext cx="5300000" cy="290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390040" y="1470000"/>
            <a:ext cx="5160000" cy="2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4.png" id="146" name="Google Shape;1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000" y="1480000"/>
            <a:ext cx="5100000" cy="27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/>
          <p:nvPr/>
        </p:nvSpPr>
        <p:spPr>
          <a:xfrm>
            <a:off x="5950000" y="1000000"/>
            <a:ext cx="2870000" cy="103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950000" y="1000000"/>
            <a:ext cx="45720" cy="103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6120000" y="1110000"/>
            <a:ext cx="261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Prévisibles : 64 % des volumes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6120000" y="1400000"/>
            <a:ext cx="261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M01AB, M01AE, N02BE : le modèle bat « le mois prochain = le mois dernier ».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5950000" y="2120000"/>
            <a:ext cx="2870000" cy="90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5950000" y="2120000"/>
            <a:ext cx="45720" cy="9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6120000" y="2230000"/>
            <a:ext cx="261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Sous réserve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6120000" y="2520000"/>
            <a:ext cx="261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R06 : meilleur que la méthode simple, mais encore trop d'erreur.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5950000" y="3110000"/>
            <a:ext cx="2870000" cy="119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5950000" y="3110000"/>
            <a:ext cx="45720" cy="119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6120000" y="3220000"/>
            <a:ext cx="261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Non prévisibles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6120000" y="3510000"/>
            <a:ext cx="261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N02BA, N05B : la méthode simple suffit. N05C, R03 : trop irréguliers (N05C : 68 % de jours sans vente).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320040" y="4420000"/>
            <a:ext cx="8503920" cy="4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20040" y="4420000"/>
            <a:ext cx="64008" cy="42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520000" y="4420000"/>
            <a:ext cx="820392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Onglet Stocks : la tendance seule ne suffit pas, ajout de la moyenne saisonnière.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8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4"/>
          <p:cNvCxnSpPr/>
          <p:nvPr/>
        </p:nvCxnSpPr>
        <p:spPr>
          <a:xfrm>
            <a:off x="0" y="54864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7" name="Google Shape;167;p4"/>
          <p:cNvCxnSpPr/>
          <p:nvPr/>
        </p:nvCxnSpPr>
        <p:spPr>
          <a:xfrm flipH="1" rot="10800000">
            <a:off x="0" y="384048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8" name="Google Shape;168;p4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Outil et mise à jour mensuelle</a:t>
            </a:r>
            <a:r>
              <a:rPr b="0" i="0" lang="en-US" sz="2400" u="none" cap="none" strike="noStrike">
                <a:solidFill>
                  <a:srgbClr val="00F08C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685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Manager  ·  Ventes 2014-2019, 8 groupes ATC, volumes dans l'unité du logiciel de caisse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320040" y="1050000"/>
            <a:ext cx="1900000" cy="1050000"/>
          </a:xfrm>
          <a:prstGeom prst="roundRect">
            <a:avLst>
              <a:gd fmla="val 8000" name="adj"/>
            </a:avLst>
          </a:prstGeom>
          <a:solidFill>
            <a:srgbClr val="B5B3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420040" y="1150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 exports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420040" y="1520000"/>
            <a:ext cx="17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horaire, jour, semaine, mois, envoyés chaque mois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2270040" y="1450000"/>
            <a:ext cx="180000" cy="24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2500040" y="1050000"/>
            <a:ext cx="1900000" cy="1050000"/>
          </a:xfrm>
          <a:prstGeom prst="roundRect">
            <a:avLst>
              <a:gd fmla="val 8000" name="adj"/>
            </a:avLst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2600040" y="1150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Contrôles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2600040" y="1520000"/>
            <a:ext cx="17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exports comparés entre eux, écarts signalés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4450040" y="1450000"/>
            <a:ext cx="180000" cy="24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4680040" y="1050000"/>
            <a:ext cx="1900000" cy="1050000"/>
          </a:xfrm>
          <a:prstGeom prst="roundRect">
            <a:avLst>
              <a:gd fmla="val 8000" name="adj"/>
            </a:avLst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4780040" y="1150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Python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4780040" y="1520000"/>
            <a:ext cx="17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statistiques et test de prévision recalculés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6630040" y="1450000"/>
            <a:ext cx="180000" cy="24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6860040" y="1050000"/>
            <a:ext cx="1900000" cy="1050000"/>
          </a:xfrm>
          <a:prstGeom prst="roundRect">
            <a:avLst>
              <a:gd fmla="val 8000" name="adj"/>
            </a:avLst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6960040" y="1150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Pharmacie_Analyse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6960040" y="1520000"/>
            <a:ext cx="17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classeur Excel 365, sans macro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320040" y="2330000"/>
            <a:ext cx="2276000" cy="3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430040" y="2330000"/>
            <a:ext cx="211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 11 onglets du classeur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320040" y="2720000"/>
            <a:ext cx="2050000" cy="90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20040" y="2720000"/>
            <a:ext cx="45720" cy="9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490040" y="2830000"/>
            <a:ext cx="17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Synthèse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490040" y="3120000"/>
            <a:ext cx="179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Accueil · Activite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2500040" y="2720000"/>
            <a:ext cx="2050000" cy="90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2500040" y="2720000"/>
            <a:ext cx="45720" cy="9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2670040" y="2830000"/>
            <a:ext cx="17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Outils du pharmacien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2670040" y="3120000"/>
            <a:ext cx="179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Recherche · Calendrier · Stocks · Scan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4680040" y="2720000"/>
            <a:ext cx="2050000" cy="90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4680040" y="2720000"/>
            <a:ext cx="45720" cy="9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4850040" y="2830000"/>
            <a:ext cx="17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Preuves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4850040" y="3120000"/>
            <a:ext cx="179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Statistiques · Qualite_donnees · Environnement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6860040" y="2720000"/>
            <a:ext cx="2050000" cy="90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6860040" y="2720000"/>
            <a:ext cx="45720" cy="9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7030040" y="2830000"/>
            <a:ext cx="17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Calculs internes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7030040" y="3120000"/>
            <a:ext cx="179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Calculs · Historique</a:t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320040" y="4420000"/>
            <a:ext cx="8503920" cy="4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320040" y="4420000"/>
            <a:ext cx="64008" cy="42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520000" y="4420000"/>
            <a:ext cx="820392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Risque maîtrisé : un changement de format d'export est détecté par les contrôles avant tout calcul.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8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213;p5"/>
          <p:cNvCxnSpPr/>
          <p:nvPr/>
        </p:nvCxnSpPr>
        <p:spPr>
          <a:xfrm>
            <a:off x="0" y="54864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4" name="Google Shape;214;p5"/>
          <p:cNvCxnSpPr/>
          <p:nvPr/>
        </p:nvCxnSpPr>
        <p:spPr>
          <a:xfrm flipH="1" rot="10800000">
            <a:off x="0" y="384048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5" name="Google Shape;215;p5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Mission de suivi</a:t>
            </a:r>
            <a:r>
              <a:rPr b="0" i="0" lang="en-US" sz="2400" u="none" cap="none" strike="noStrike">
                <a:solidFill>
                  <a:srgbClr val="00F08C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685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Manager  ·  Ventes 2014-2019, 8 groupes ATC, volumes dans l'unité du logiciel de caisse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320040" y="1000000"/>
            <a:ext cx="2276000" cy="30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430040" y="1000000"/>
            <a:ext cx="211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Ce que l'on peut promettre</a:t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320040" y="1380000"/>
            <a:ext cx="4150000" cy="200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480000" y="1500000"/>
            <a:ext cx="3850000" cy="2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Noto Sans Symbols"/>
              <a:buChar char="❑"/>
            </a:pPr>
            <a:r>
              <a:rPr b="0" i="0" lang="en-US" sz="11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Statistiques et test de prévision recalculés à chaque export mensuel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Noto Sans Symbols"/>
              <a:buChar char="❑"/>
            </a:pPr>
            <a:r>
              <a:rPr b="0" i="0" lang="en-US" sz="11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Prévision du mois suivant pour M01AB, M01AE, N02BE (R06 sous réserve)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Noto Sans Symbols"/>
              <a:buChar char="❑"/>
            </a:pPr>
            <a:r>
              <a:rPr b="0" i="0" lang="en-US" sz="11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Alertes de stock par groupe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Noto Sans Symbols"/>
              <a:buChar char="❑"/>
            </a:pPr>
            <a:r>
              <a:rPr b="0" i="0" lang="en-US" sz="11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Données externes intégrées : Réseau Sentinelles, Météo-France, RNSA, calendrier scolaire, jours fériés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4670000" y="1000000"/>
            <a:ext cx="2808000" cy="30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4780000" y="1000000"/>
            <a:ext cx="264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Ce que l'on ne peut pas promettre</a:t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4670000" y="1380000"/>
            <a:ext cx="4150000" cy="200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4830000" y="1500000"/>
            <a:ext cx="3850000" cy="2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Noto Sans Symbols"/>
              <a:buChar char="❑"/>
            </a:pPr>
            <a:r>
              <a:rPr b="0" i="0" lang="en-US" sz="11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Une prévision fiable pour N02BA, N05B, N05C, R03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Noto Sans Symbols"/>
              <a:buChar char="❑"/>
            </a:pPr>
            <a:r>
              <a:rPr b="0" i="0" lang="en-US" sz="11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Une analyse de marge ou de chiffre d'affaires : l'export ne contient aucun prix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Noto Sans Symbols"/>
              <a:buChar char="❑"/>
            </a:pPr>
            <a:r>
              <a:rPr b="0" i="0" lang="en-US" sz="11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détection des ruptures réelles : aucun historique de stock, saisie du stock en rayon manuelle</a:t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320050" y="3491325"/>
            <a:ext cx="6650100" cy="13092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319550" y="3491300"/>
            <a:ext cx="63900" cy="13092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470050" y="3573800"/>
            <a:ext cx="6350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Accepter l’accord sous conditions : </a:t>
            </a:r>
            <a:endParaRPr b="1" sz="11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BM Plex Sans"/>
              <a:buChar char="-"/>
            </a:pPr>
            <a:r>
              <a:rPr b="1" lang="en-US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Grandes zones de données (mois uniquement), petits volumes masqués</a:t>
            </a:r>
            <a:endParaRPr b="1" sz="11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BM Plex Sans"/>
              <a:buChar char="-"/>
            </a:pPr>
            <a:r>
              <a:rPr b="1" lang="en-US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Contrat écrit </a:t>
            </a:r>
            <a:endParaRPr b="1" sz="11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BM Plex Sans"/>
              <a:buChar char="-"/>
            </a:pPr>
            <a:r>
              <a:rPr b="1" lang="en-US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Remise indépendante</a:t>
            </a:r>
            <a:endParaRPr b="1" sz="11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BM Plex Sans"/>
              <a:buChar char="-"/>
            </a:pPr>
            <a:r>
              <a:rPr b="1" lang="en-US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Validation : avis d’un juriste santé et du conseil régional de l’Ordre des pharmaciens</a:t>
            </a:r>
            <a:endParaRPr b="1" sz="11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lang="en-US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b="1" i="0" lang="en-US" sz="11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btenir prix et stocks auprès de l'éditeur du logiciel de caisse.</a:t>
            </a:r>
            <a:endParaRPr b="1" sz="11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7150000" y="3650000"/>
            <a:ext cx="1674000" cy="5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7150000" y="3650000"/>
            <a:ext cx="45720" cy="56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5"/>
          <p:cNvGraphicFramePr/>
          <p:nvPr/>
        </p:nvGraphicFramePr>
        <p:xfrm>
          <a:off x="7250000" y="3720000"/>
          <a:ext cx="420000" cy="420000"/>
        </p:xfrm>
        <a:graphic>
          <a:graphicData uri="http://schemas.openxmlformats.org/presentationml/2006/ole">
            <mc:AlternateContent>
              <mc:Choice Requires="v">
                <p:oleObj r:id="rId4" imgH="420000" imgW="420000" progId="Excel.Sheet.12" spid="_x0000_s1">
                  <p:embed/>
                </p:oleObj>
              </mc:Choice>
              <mc:Fallback>
                <p:oleObj r:id="rId5" imgH="420000" imgW="420000" progId="Excel.Sheet.12">
                  <p:embed/>
                  <p:pic>
                    <p:nvPicPr>
                      <p:cNvPr id="233" name="Google Shape;233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250000" y="3720000"/>
                        <a:ext cx="420000" cy="42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" name="Google Shape;234;p5"/>
          <p:cNvSpPr txBox="1"/>
          <p:nvPr/>
        </p:nvSpPr>
        <p:spPr>
          <a:xfrm>
            <a:off x="7720000" y="3650000"/>
            <a:ext cx="108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Outil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Pharmacie_Analyse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