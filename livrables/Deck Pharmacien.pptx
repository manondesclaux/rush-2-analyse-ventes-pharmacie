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N02BE</c:v>
                </c:pt>
              </c:strCache>
            </c:strRef>
          </c:tx>
          <c:spPr>
            <a:ln w="28575">
              <a:solidFill>
                <a:srgbClr val="013AFB"/>
              </a:solidFill>
            </a:ln>
          </c:spPr>
          <c:marker/>
          <c:cat>
            <c:strRef>
              <c:f>Sheet1!$A$2:$A$13</c:f>
              <c:strCache>
                <c:ptCount val="12"/>
                <c:pt idx="0">
                  <c:v>Janv.</c:v>
                </c:pt>
                <c:pt idx="1">
                  <c:v>Févr.</c:v>
                </c:pt>
                <c:pt idx="2">
                  <c:v>Mars</c:v>
                </c:pt>
                <c:pt idx="3">
                  <c:v>Avr.</c:v>
                </c:pt>
                <c:pt idx="4">
                  <c:v>Mai</c:v>
                </c:pt>
                <c:pt idx="5">
                  <c:v>Juin</c:v>
                </c:pt>
                <c:pt idx="6">
                  <c:v>Juil.</c:v>
                </c:pt>
                <c:pt idx="7">
                  <c:v>Août</c:v>
                </c:pt>
                <c:pt idx="8">
                  <c:v>Sept.</c:v>
                </c:pt>
                <c:pt idx="9">
                  <c:v>Oct.</c:v>
                </c:pt>
                <c:pt idx="10">
                  <c:v>Nov.</c:v>
                </c:pt>
                <c:pt idx="11">
                  <c:v>Déc.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1.54</c:v>
                </c:pt>
                <c:pt idx="1">
                  <c:v>1.19</c:v>
                </c:pt>
                <c:pt idx="2">
                  <c:v>0.98</c:v>
                </c:pt>
                <c:pt idx="3">
                  <c:v>0.88</c:v>
                </c:pt>
                <c:pt idx="4">
                  <c:v>0.76</c:v>
                </c:pt>
                <c:pt idx="5">
                  <c:v>0.68</c:v>
                </c:pt>
                <c:pt idx="6">
                  <c:v>0.64</c:v>
                </c:pt>
                <c:pt idx="7">
                  <c:v>0.68</c:v>
                </c:pt>
                <c:pt idx="8">
                  <c:v>1.05</c:v>
                </c:pt>
                <c:pt idx="9">
                  <c:v>1.39</c:v>
                </c:pt>
                <c:pt idx="10">
                  <c:v>1.07</c:v>
                </c:pt>
                <c:pt idx="11">
                  <c:v>1.36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R03</c:v>
                </c:pt>
              </c:strCache>
            </c:strRef>
          </c:tx>
          <c:spPr>
            <a:ln w="28575">
              <a:solidFill>
                <a:srgbClr val="F05028"/>
              </a:solidFill>
            </a:ln>
          </c:spPr>
          <c:marker/>
          <c:cat>
            <c:strRef>
              <c:f>Sheet1!$A$2:$A$13</c:f>
              <c:strCache>
                <c:ptCount val="12"/>
                <c:pt idx="0">
                  <c:v>Janv.</c:v>
                </c:pt>
                <c:pt idx="1">
                  <c:v>Févr.</c:v>
                </c:pt>
                <c:pt idx="2">
                  <c:v>Mars</c:v>
                </c:pt>
                <c:pt idx="3">
                  <c:v>Avr.</c:v>
                </c:pt>
                <c:pt idx="4">
                  <c:v>Mai</c:v>
                </c:pt>
                <c:pt idx="5">
                  <c:v>Juin</c:v>
                </c:pt>
                <c:pt idx="6">
                  <c:v>Juil.</c:v>
                </c:pt>
                <c:pt idx="7">
                  <c:v>Août</c:v>
                </c:pt>
                <c:pt idx="8">
                  <c:v>Sept.</c:v>
                </c:pt>
                <c:pt idx="9">
                  <c:v>Oct.</c:v>
                </c:pt>
                <c:pt idx="10">
                  <c:v>Nov.</c:v>
                </c:pt>
                <c:pt idx="11">
                  <c:v>Déc.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1.39</c:v>
                </c:pt>
                <c:pt idx="1">
                  <c:v>1.22</c:v>
                </c:pt>
                <c:pt idx="2">
                  <c:v>1.12</c:v>
                </c:pt>
                <c:pt idx="3">
                  <c:v>1.04</c:v>
                </c:pt>
                <c:pt idx="4">
                  <c:v>0.9</c:v>
                </c:pt>
                <c:pt idx="5">
                  <c:v>0.78</c:v>
                </c:pt>
                <c:pt idx="6">
                  <c:v>0.53</c:v>
                </c:pt>
                <c:pt idx="7">
                  <c:v>0.55</c:v>
                </c:pt>
                <c:pt idx="8">
                  <c:v>0.79</c:v>
                </c:pt>
                <c:pt idx="9">
                  <c:v>1.31</c:v>
                </c:pt>
                <c:pt idx="10">
                  <c:v>1.11</c:v>
                </c:pt>
                <c:pt idx="11">
                  <c:v>1.49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R06</c:v>
                </c:pt>
              </c:strCache>
            </c:strRef>
          </c:tx>
          <c:spPr>
            <a:ln w="28575">
              <a:solidFill>
                <a:srgbClr val="00F08C"/>
              </a:solidFill>
            </a:ln>
          </c:spPr>
          <c:marker/>
          <c:cat>
            <c:strRef>
              <c:f>Sheet1!$A$2:$A$13</c:f>
              <c:strCache>
                <c:ptCount val="12"/>
                <c:pt idx="0">
                  <c:v>Janv.</c:v>
                </c:pt>
                <c:pt idx="1">
                  <c:v>Févr.</c:v>
                </c:pt>
                <c:pt idx="2">
                  <c:v>Mars</c:v>
                </c:pt>
                <c:pt idx="3">
                  <c:v>Avr.</c:v>
                </c:pt>
                <c:pt idx="4">
                  <c:v>Mai</c:v>
                </c:pt>
                <c:pt idx="5">
                  <c:v>Juin</c:v>
                </c:pt>
                <c:pt idx="6">
                  <c:v>Juil.</c:v>
                </c:pt>
                <c:pt idx="7">
                  <c:v>Août</c:v>
                </c:pt>
                <c:pt idx="8">
                  <c:v>Sept.</c:v>
                </c:pt>
                <c:pt idx="9">
                  <c:v>Oct.</c:v>
                </c:pt>
                <c:pt idx="10">
                  <c:v>Nov.</c:v>
                </c:pt>
                <c:pt idx="11">
                  <c:v>Déc.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0.53</c:v>
                </c:pt>
                <c:pt idx="1">
                  <c:v>0.57</c:v>
                </c:pt>
                <c:pt idx="2">
                  <c:v>1.08</c:v>
                </c:pt>
                <c:pt idx="3">
                  <c:v>1.66</c:v>
                </c:pt>
                <c:pt idx="4">
                  <c:v>1.71</c:v>
                </c:pt>
                <c:pt idx="5">
                  <c:v>1.5</c:v>
                </c:pt>
                <c:pt idx="6">
                  <c:v>1.14</c:v>
                </c:pt>
                <c:pt idx="7">
                  <c:v>0.91</c:v>
                </c:pt>
                <c:pt idx="8">
                  <c:v>0.87</c:v>
                </c:pt>
                <c:pt idx="9">
                  <c:v>0.67</c:v>
                </c:pt>
                <c:pt idx="10">
                  <c:v>0.53</c:v>
                </c:pt>
                <c:pt idx="11">
                  <c:v>0.49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FDB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1E5EE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850">
          <a:solidFill>
            <a:srgbClr val="3D4553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N02BE</c:v>
                </c:pt>
              </c:strCache>
            </c:strRef>
          </c:tx>
          <c:spPr>
            <a:solidFill>
              <a:srgbClr val="013AFB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Lun.</c:v>
                </c:pt>
                <c:pt idx="1">
                  <c:v>Mar.</c:v>
                </c:pt>
                <c:pt idx="2">
                  <c:v>Mer.</c:v>
                </c:pt>
                <c:pt idx="3">
                  <c:v>Jeu.</c:v>
                </c:pt>
                <c:pt idx="4">
                  <c:v>Ven.</c:v>
                </c:pt>
                <c:pt idx="5">
                  <c:v>Sam.</c:v>
                </c:pt>
                <c:pt idx="6">
                  <c:v>Dim.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0.98</c:v>
                </c:pt>
                <c:pt idx="1">
                  <c:v>0.93</c:v>
                </c:pt>
                <c:pt idx="2">
                  <c:v>0.93</c:v>
                </c:pt>
                <c:pt idx="3">
                  <c:v>0.94</c:v>
                </c:pt>
                <c:pt idx="4">
                  <c:v>0.96</c:v>
                </c:pt>
                <c:pt idx="5">
                  <c:v>1.11</c:v>
                </c:pt>
                <c:pt idx="6">
                  <c:v>1.14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M01AE</c:v>
                </c:pt>
              </c:strCache>
            </c:strRef>
          </c:tx>
          <c:spPr>
            <a:solidFill>
              <a:srgbClr val="7996F9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Lun.</c:v>
                </c:pt>
                <c:pt idx="1">
                  <c:v>Mar.</c:v>
                </c:pt>
                <c:pt idx="2">
                  <c:v>Mer.</c:v>
                </c:pt>
                <c:pt idx="3">
                  <c:v>Jeu.</c:v>
                </c:pt>
                <c:pt idx="4">
                  <c:v>Ven.</c:v>
                </c:pt>
                <c:pt idx="5">
                  <c:v>Sam.</c:v>
                </c:pt>
                <c:pt idx="6">
                  <c:v>Dim.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0.96</c:v>
                </c:pt>
                <c:pt idx="1">
                  <c:v>0.92</c:v>
                </c:pt>
                <c:pt idx="2">
                  <c:v>0.94</c:v>
                </c:pt>
                <c:pt idx="3">
                  <c:v>0.94</c:v>
                </c:pt>
                <c:pt idx="4">
                  <c:v>0.95</c:v>
                </c:pt>
                <c:pt idx="5">
                  <c:v>1.1</c:v>
                </c:pt>
                <c:pt idx="6">
                  <c:v>1.19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N05B</c:v>
                </c:pt>
              </c:strCache>
            </c:strRef>
          </c:tx>
          <c:spPr>
            <a:solidFill>
              <a:srgbClr val="F05028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Lun.</c:v>
                </c:pt>
                <c:pt idx="1">
                  <c:v>Mar.</c:v>
                </c:pt>
                <c:pt idx="2">
                  <c:v>Mer.</c:v>
                </c:pt>
                <c:pt idx="3">
                  <c:v>Jeu.</c:v>
                </c:pt>
                <c:pt idx="4">
                  <c:v>Ven.</c:v>
                </c:pt>
                <c:pt idx="5">
                  <c:v>Sam.</c:v>
                </c:pt>
                <c:pt idx="6">
                  <c:v>Dim.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1.05</c:v>
                </c:pt>
                <c:pt idx="1">
                  <c:v>1.08</c:v>
                </c:pt>
                <c:pt idx="2">
                  <c:v>1.14</c:v>
                </c:pt>
                <c:pt idx="3">
                  <c:v>0.99</c:v>
                </c:pt>
                <c:pt idx="4">
                  <c:v>1.12</c:v>
                </c:pt>
                <c:pt idx="5">
                  <c:v>0.96</c:v>
                </c:pt>
                <c:pt idx="6">
                  <c:v>0.65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N05C</c:v>
                </c:pt>
              </c:strCache>
            </c:strRef>
          </c:tx>
          <c:spPr>
            <a:solidFill>
              <a:srgbClr val="B5B3AE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Lun.</c:v>
                </c:pt>
                <c:pt idx="1">
                  <c:v>Mar.</c:v>
                </c:pt>
                <c:pt idx="2">
                  <c:v>Mer.</c:v>
                </c:pt>
                <c:pt idx="3">
                  <c:v>Jeu.</c:v>
                </c:pt>
                <c:pt idx="4">
                  <c:v>Ven.</c:v>
                </c:pt>
                <c:pt idx="5">
                  <c:v>Sam.</c:v>
                </c:pt>
                <c:pt idx="6">
                  <c:v>Dim.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1.03</c:v>
                </c:pt>
                <c:pt idx="1">
                  <c:v>1.17</c:v>
                </c:pt>
                <c:pt idx="2">
                  <c:v>1.12</c:v>
                </c:pt>
                <c:pt idx="3">
                  <c:v>0.9</c:v>
                </c:pt>
                <c:pt idx="4">
                  <c:v>1.31</c:v>
                </c:pt>
                <c:pt idx="5">
                  <c:v>0.92</c:v>
                </c:pt>
                <c:pt idx="6">
                  <c:v>0.55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F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5EE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850">
          <a:solidFill>
            <a:srgbClr val="3D4553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Stock conseillé</c:v>
                </c:pt>
              </c:strCache>
            </c:strRef>
          </c:tx>
          <c:spPr>
            <a:solidFill>
              <a:srgbClr val="013AFB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N02BE</c:v>
                </c:pt>
                <c:pt idx="1">
                  <c:v>R03</c:v>
                </c:pt>
                <c:pt idx="2">
                  <c:v>N05B</c:v>
                </c:pt>
                <c:pt idx="3">
                  <c:v>M01AB</c:v>
                </c:pt>
                <c:pt idx="4">
                  <c:v>M01AE</c:v>
                </c:pt>
                <c:pt idx="5">
                  <c:v>R06</c:v>
                </c:pt>
                <c:pt idx="6">
                  <c:v>N02BA</c:v>
                </c:pt>
                <c:pt idx="7">
                  <c:v>N05C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1266</c:v>
                </c:pt>
                <c:pt idx="1">
                  <c:v>351</c:v>
                </c:pt>
                <c:pt idx="2">
                  <c:v>211</c:v>
                </c:pt>
                <c:pt idx="3">
                  <c:v>165</c:v>
                </c:pt>
                <c:pt idx="4">
                  <c:v>123</c:v>
                </c:pt>
                <c:pt idx="5">
                  <c:v>74</c:v>
                </c:pt>
                <c:pt idx="6">
                  <c:v>73</c:v>
                </c:pt>
                <c:pt idx="7">
                  <c:v>22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FDB"/>
            </a:solidFill>
          </a:ln>
        </c:spPr>
        <c:txPr>
          <a:bodyPr/>
          <a:lstStyle/>
          <a:p>
            <a:pPr>
              <a:defRPr sz="10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3D4553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INTERVENANTE : Manon Rollet</a:t>
            </a:r>
          </a:p>
          <a:p/>
          <a:p>
            <a:r>
              <a:t>[Deck Pharmacien · slide 1 – 0:00 à 0:30]</a:t>
            </a:r>
          </a:p>
          <a:p>
            <a:r>
              <a:t>Bonjour. Votre question de départ : « anticiper la demande : quels médicaments, quels jours, quelles périodes de l'année ». Et un outil : « choisir un ou plusieurs groupes et un jour ou une période, et voir aussitôt les ventes, sans macro ».</a:t>
            </a:r>
          </a:p>
          <a:p>
            <a:r>
              <a:t>Notre réponse tient en trois repères — la saison, le jour, un stock conseillé — et un outil. Je vais vous expliquer comment nous les avons construits, et jusqu'où vous pouvez vous y 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INTERVENANTE : Manon Rollet</a:t>
            </a:r>
          </a:p>
          <a:p/>
          <a:p>
            <a:r>
              <a:t>[Deck Pharmacien · slide 2, puis classeur Pharmacie_Analyse, onglet Activité (graphique « Saisonnalité ») – 0:30 à 1:30]</a:t>
            </a:r>
          </a:p>
          <a:p>
            <a:r>
              <a:t>Tout part de l'export journalier de l'Excel data pharmacie : six ans de ventes, jour par jour.</a:t>
            </a:r>
          </a:p>
          <a:p>
            <a:r>
              <a:t>Le réflexe aurait été de comparer les totaux de chaque mois. Nous l'avons écarté : un mois de 31 jours paraît forcément plus fort qu'un mois de 28. Nous avons retenu les ventes moyennes par jour, comparées à un mois normal : c'est l'indice. 1, c'est un mois normal ; 1,5, c'est 50 % de plus.</a:t>
            </a:r>
          </a:p>
          <a:p>
            <a:r>
              <a:t>Trois calendriers apparaissent. L'hiver : paracétamol 1,54 en janvier contre 0,64 en juillet — 2,4 fois plus —, R03 1,49 en décembre. Le printemps : R06, les antiallergiques, 1,71 en mai. Le reste varie de moins de 15 %.</a:t>
            </a:r>
          </a:p>
          <a:p>
            <a:r>
              <a:t>Côté environnement, le paracétamol suit la gastro — 34 % de ses variations —, le froid — 33 % — et la grippe — 17 % ; en semaine d'épidémie, il fait plus 46 %. Ce sont des liens, pas des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INTERVENANTE : Manon Rollet</a:t>
            </a:r>
          </a:p>
          <a:p/>
          <a:p>
            <a:r>
              <a:t>[Deck Pharmacien · slide 3 – 1:30 à 2:15]</a:t>
            </a:r>
          </a:p>
          <a:p>
            <a:r>
              <a:t>Même méthode, par jour de la semaine. Deux comportements se séparent. L'automédication monte le week-end : paracétamol plus 11 à 14 %, ibuprofène jusqu'à plus 19 % le dimanche. Les anxiolytiques et les hypnotiques, eux, chutent le dimanche, de 35 et 45 % : ils suivent les ordonnances, donc les consultations.</a:t>
            </a:r>
          </a:p>
          <a:p>
            <a:r>
              <a:t>D'où une règle simple : stock d'automédication plein le vendredi soir ; inutile de sur-stocker les médicaments sur ordonnance avant le week-end.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INTERVENANTE : Manon Rollet</a:t>
            </a:r>
          </a:p>
          <a:p/>
          <a:p>
            <a:r>
              <a:t>[Deck Pharmacien · slide 4, puis classeur Pharmacie_Analyse, onglet Stocks (Mois = Octobre ; colonnes G et I) – 2:15 à 3:30]</a:t>
            </a:r>
          </a:p>
          <a:p>
            <a:r>
              <a:t>L'onglet Stocks prend vos ventes par jour des octobres 2014 à 2018, prolonge la tendance à 2019, et multiplie par 31 jours. Paracétamol : 40,8 par jour, soit 1 266 unités ; en octobre 2018, vous en aviez vendu 1 129 : l'ordre de grandeur est bon.</a:t>
            </a:r>
          </a:p>
          <a:p>
            <a:r>
              <a:t>Le réflexe serait de suivre ce chiffre tel quel. Nous l'avons nuancé : notre test montre que cette tendance, seule, se trompe plus souvent que « refaire le mois précédent ». Vérifiez toujours avec le même mois des années passées, dans Recherche.</a:t>
            </a:r>
          </a:p>
          <a:p>
            <a:r>
              <a:t>Et la règle dépend du groupe : paracétamol, M01AB, M01AE, commandez sur la prévision ; R06, avec une marge ; N02BA et N05B, reprenez le mois précédent ; R03 et hypnotiques, un stock de sécurité — les hypnotiques n'ont aucune vente 68 % des jours. Un jour sans vente n'est pas forcément une rupture.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INTERVENANTE : Manon Rollet</a:t>
            </a:r>
          </a:p>
          <a:p/>
          <a:p>
            <a:r>
              <a:t>[Deck Pharmacien · slide 5, puis classeur Pharmacie_Analyse : onglets Recherche et Calendrier – 3:30 à 4:30]</a:t>
            </a:r>
          </a:p>
          <a:p>
            <a:r>
              <a:t>Votre routine tient en trois gestes. En début de mois, l'onglet Recherche : je choisis le paracétamol et R03, la période janvier 2019, et en haut s'affichent le total, le nombre de jours et la moyenne par jour. Avant la commande, l'onglet Stocks : vous saisissez votre stock en rayon, l'outil donne la quantité à commander et l'alerte. Chaque lundi, l'onglet Calendrier : les épidémies de la semaine, les vacances et les jours fériés.</a:t>
            </a:r>
          </a:p>
          <a:p/>
          <a:p>
            <a:r>
              <a:t>[Deck Pharmacien · slide 5, encadrés « Votre périmètre » et « Limites » – 4:30 à 5:00]</a:t>
            </a:r>
          </a:p>
          <a:p>
            <a:r>
              <a:t>Pour conclure, je réponds à votre question : quoi, quand, combien. Quoi et quand : l'hiver pour le paracétamol et R03, le printemps pour R06, le vendredi pour l'automédication. Combien : le stock conseillé, recoupé avec les années passées.</a:t>
            </a:r>
          </a:p>
          <a:p>
            <a:r>
              <a:t>Trois limites : l'unité n'est pas documentée, il n'y a ni prix ni historique de stock, et les données s'arrêtent en 2019. Et une consigne : ne transmettez jamais vous-même l'export ni le classeur à un laboratoire ; ce sont des données de santé, et la décision revient au titulaire. Merci, je prends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package" Target="../embeddings/Microsoft_Excel_Sheet3.xlsx"/><Relationship Id="rId3" Type="http://schemas.openxmlformats.org/officeDocument/2006/relationships/image" Target="../media/image2.wmf"/><Relationship Id="rId4" Type="http://schemas.openxmlformats.org/officeDocument/2006/relationships/hyperlink" Target="../Pharmacie_Analyse.xlsx" TargetMode="Externa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92240" y="0"/>
            <a:ext cx="2651760" cy="1188720"/>
          </a:xfrm>
          <a:prstGeom prst="rect">
            <a:avLst/>
          </a:prstGeom>
          <a:solidFill>
            <a:srgbClr val="799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1188720"/>
            <a:ext cx="1188720" cy="1188720"/>
          </a:xfrm>
          <a:prstGeom prst="rect">
            <a:avLst/>
          </a:prstGeom>
          <a:solidFill>
            <a:srgbClr val="799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132588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9053" y="308610"/>
            <a:ext cx="4500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0F08C"/>
                </a:solidFill>
                <a:latin typeface="IBM Plex Sans"/>
              </a:rPr>
              <a:t>&lt; MBA promo 2028 – Groupe les 3 M 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7600000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FFFFFF"/>
                </a:solidFill>
                <a:latin typeface="Anton"/>
              </a:rPr>
              <a:t>Deck pharmacien achats</a:t>
            </a:r>
            <a:r>
              <a:rPr sz="4400" b="0" i="0">
                <a:solidFill>
                  <a:srgbClr val="F05028"/>
                </a:solidFill>
                <a:latin typeface="Anton"/>
              </a:rPr>
              <a:t>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000"/>
            <a:ext cx="5000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1">
                <a:solidFill>
                  <a:srgbClr val="00F08C"/>
                </a:solidFill>
                <a:latin typeface="IBM Plex Sans"/>
              </a:rPr>
              <a:t>Analyse des ventes pharmaceutiques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2470000"/>
            <a:ext cx="280508" cy="329183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00000"/>
            <a:ext cx="79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nton"/>
              </a:rPr>
              <a:t>Saisons, jours de la semaine et stock conseillé par groupe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080" y="3130000"/>
            <a:ext cx="23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2,4 fois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080" y="3560000"/>
            <a:ext cx="23000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3E9FD"/>
                </a:solidFill>
                <a:latin typeface="IBM Plex Sans"/>
              </a:rPr>
              <a:t>plus de paracétamol (N02BE) vendu en janvier qu'en juillet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0080" y="3130000"/>
            <a:ext cx="23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1 266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0080" y="3560000"/>
            <a:ext cx="23000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3E9FD"/>
                </a:solidFill>
                <a:latin typeface="IBM Plex Sans"/>
              </a:rPr>
              <a:t>unités de paracétamol (N02BE) conseillées en stock pour octobre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0080" y="3050000"/>
            <a:ext cx="2520000" cy="1000000"/>
          </a:xfrm>
          <a:prstGeom prst="rect">
            <a:avLst/>
          </a:prstGeom>
          <a:solidFill>
            <a:srgbClr val="1E4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40080" y="3050000"/>
            <a:ext cx="2520000" cy="45720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080" y="3130000"/>
            <a:ext cx="230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+46 %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080" y="3560000"/>
            <a:ext cx="23000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3E9FD"/>
                </a:solidFill>
                <a:latin typeface="IBM Plex Sans"/>
              </a:rPr>
              <a:t>de paracétamol pendant une semaine d'épidémie de grippe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50000"/>
            <a:ext cx="780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1">
                <a:solidFill>
                  <a:srgbClr val="00F08C"/>
                </a:solidFill>
                <a:latin typeface="IBM Plex Sans"/>
              </a:rPr>
              <a:t>Recommandation : </a:t>
            </a:r>
            <a:r>
              <a:rPr sz="1300" b="0" i="0">
                <a:solidFill>
                  <a:srgbClr val="FFFFFF"/>
                </a:solidFill>
                <a:latin typeface="IBM Plex Sans"/>
              </a:rPr>
              <a:t>commander selon la saison et le jour, à partir du stock conseillé de l'onglet Stocks.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4864"/>
            <a:ext cx="329184" cy="329184"/>
          </a:xfrm>
          <a:prstGeom prst="line">
            <a:avLst/>
          </a:prstGeom>
          <a:ln w="63500">
            <a:solidFill>
              <a:srgbClr val="013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0" y="384048"/>
            <a:ext cx="329184" cy="329184"/>
          </a:xfrm>
          <a:prstGeom prst="line">
            <a:avLst/>
          </a:prstGeom>
          <a:ln w="63500">
            <a:solidFill>
              <a:srgbClr val="013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013AFB"/>
                </a:solidFill>
                <a:latin typeface="Anton"/>
              </a:rPr>
              <a:t>Saisonnalité des ventes</a:t>
            </a:r>
            <a:r>
              <a:rPr sz="2400" b="0" i="0">
                <a:solidFill>
                  <a:srgbClr val="00F08C"/>
                </a:solidFill>
                <a:latin typeface="Anton"/>
              </a:rPr>
              <a:t>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7685"/>
                </a:solidFill>
                <a:latin typeface="IBM Plex Sans"/>
              </a:rPr>
              <a:t>Pharmacien achats  ·  Ventes 2014-2019, 8 groupes ATC, volumes dans l'unité du logiciel de caisse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013AFB"/>
                </a:solidFill>
                <a:latin typeface="IBM Plex San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0000"/>
            <a:ext cx="2884000" cy="30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040" y="1000000"/>
            <a:ext cx="2724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ontserrat"/>
              </a:rPr>
              <a:t>Indice saisonnier (1 = mois moyen)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040" y="1520000"/>
            <a:ext cx="3100000" cy="285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00000"/>
            <a:ext cx="5000000" cy="285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0040" y="1470000"/>
            <a:ext cx="4860000" cy="27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0040" y="1490000"/>
          <a:ext cx="4780000" cy="269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ctangle 14"/>
          <p:cNvSpPr/>
          <p:nvPr/>
        </p:nvSpPr>
        <p:spPr>
          <a:xfrm>
            <a:off x="5650000" y="1000000"/>
            <a:ext cx="3170000" cy="105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50000" y="1000000"/>
            <a:ext cx="45720" cy="105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0000" y="1110000"/>
            <a:ext cx="291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Hiver : octobre à février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0000" y="1400000"/>
            <a:ext cx="2910000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IBM Plex Sans"/>
              </a:rPr>
              <a:t>N02BE jusqu'à ×1,54 en janvier, R03 ×1,49 en décembre. Monter le stock dès fin septembre.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0000" y="2130000"/>
            <a:ext cx="3170000" cy="105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0000" y="2130000"/>
            <a:ext cx="45720" cy="105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0000" y="2240000"/>
            <a:ext cx="291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Printemps : avril à juin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0000" y="2530000"/>
            <a:ext cx="2910000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IBM Plex Sans"/>
              </a:rPr>
              <a:t>R06 (allergies) ×1,71 en mai, puis ÷3 en hiver. Commander en mars, alléger dès juillet.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000" y="3260000"/>
            <a:ext cx="3170000" cy="105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50000" y="3260000"/>
            <a:ext cx="45720" cy="105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20000" y="3370000"/>
            <a:ext cx="291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Stables toute l'année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0000" y="3660000"/>
            <a:ext cx="2910000" cy="5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IBM Plex Sans"/>
              </a:rPr>
              <a:t>M01AB, N02BA, N05B, N05C : ±15 % autour de la moyenne. Réassort régulier.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370000"/>
            <a:ext cx="8503920" cy="52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370000"/>
            <a:ext cx="64008" cy="520000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0000" y="4370000"/>
            <a:ext cx="820392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Facteurs externes : N02BE monte avec la gastro (34 %), le froid (33 %) et la grippe (17 %) ; R06 avec la varicelle, la chaleur et les pollens.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4864"/>
            <a:ext cx="329184" cy="329184"/>
          </a:xfrm>
          <a:prstGeom prst="line">
            <a:avLst/>
          </a:prstGeom>
          <a:ln w="63500">
            <a:solidFill>
              <a:srgbClr val="013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0" y="384048"/>
            <a:ext cx="329184" cy="329184"/>
          </a:xfrm>
          <a:prstGeom prst="line">
            <a:avLst/>
          </a:prstGeom>
          <a:ln w="63500">
            <a:solidFill>
              <a:srgbClr val="013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013AFB"/>
                </a:solidFill>
                <a:latin typeface="Anton"/>
              </a:rPr>
              <a:t>Ventes par jour de la semaine</a:t>
            </a:r>
            <a:r>
              <a:rPr sz="2400" b="0" i="0">
                <a:solidFill>
                  <a:srgbClr val="00F08C"/>
                </a:solidFill>
                <a:latin typeface="Anton"/>
              </a:rPr>
              <a:t>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7685"/>
                </a:solidFill>
                <a:latin typeface="IBM Plex Sans"/>
              </a:rPr>
              <a:t>Pharmacien achats  ·  Ventes 2014-2019, 8 groupes ATC, volumes dans l'unité du logiciel de caisse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013AFB"/>
                </a:solidFill>
                <a:latin typeface="IBM Plex Sans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0000"/>
            <a:ext cx="3796000" cy="30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040" y="1000000"/>
            <a:ext cx="3636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ontserrat"/>
              </a:rPr>
              <a:t>Indice par jour de la semaine (1 = jour moyen)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040" y="1520000"/>
            <a:ext cx="3100000" cy="285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00000"/>
            <a:ext cx="5000000" cy="285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0040" y="1470000"/>
            <a:ext cx="4860000" cy="27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0040" y="1490000"/>
          <a:ext cx="4780000" cy="269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ctangle 14"/>
          <p:cNvSpPr/>
          <p:nvPr/>
        </p:nvSpPr>
        <p:spPr>
          <a:xfrm>
            <a:off x="5650000" y="1000000"/>
            <a:ext cx="3170000" cy="158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50000" y="1000000"/>
            <a:ext cx="45720" cy="158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0000" y="1110000"/>
            <a:ext cx="291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Vendredi : réassort automédication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0000" y="1400000"/>
            <a:ext cx="2910000" cy="11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IBM Plex Sans"/>
              </a:rPr>
              <a:t>Samedi et dimanche : N02BE +11 à +14 %, M01AE jusqu'à +19 %. Le stock doit être plein le vendredi soir.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0000" y="2700000"/>
            <a:ext cx="3170000" cy="158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50000" y="2700000"/>
            <a:ext cx="45720" cy="158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0000" y="2810000"/>
            <a:ext cx="291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Lundi à vendredi : prescriptions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0000" y="3100000"/>
            <a:ext cx="2910000" cy="11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IBM Plex Sans"/>
              </a:rPr>
              <a:t>N05B et N05C chutent le dimanche (-35 % et -45 %) : ils suivent les consultations. Inutile de sur-stocker avant le week-end.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420000"/>
            <a:ext cx="8503920" cy="42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000" y="4420000"/>
            <a:ext cx="820392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Réassort de l'automédication le vendredi ; médicaments sur ordonnance en semaine.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4864"/>
            <a:ext cx="329184" cy="329184"/>
          </a:xfrm>
          <a:prstGeom prst="line">
            <a:avLst/>
          </a:prstGeom>
          <a:ln w="63500">
            <a:solidFill>
              <a:srgbClr val="013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0" y="384048"/>
            <a:ext cx="329184" cy="329184"/>
          </a:xfrm>
          <a:prstGeom prst="line">
            <a:avLst/>
          </a:prstGeom>
          <a:ln w="63500">
            <a:solidFill>
              <a:srgbClr val="013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013AFB"/>
                </a:solidFill>
                <a:latin typeface="Anton"/>
              </a:rPr>
              <a:t>Stock conseillé pour octobre</a:t>
            </a:r>
            <a:r>
              <a:rPr sz="2400" b="0" i="0">
                <a:solidFill>
                  <a:srgbClr val="00F08C"/>
                </a:solidFill>
                <a:latin typeface="Anton"/>
              </a:rPr>
              <a:t>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7685"/>
                </a:solidFill>
                <a:latin typeface="IBM Plex Sans"/>
              </a:rPr>
              <a:t>Pharmacien achats  ·  Ventes 2014-2019, 8 groupes ATC, volumes dans l'unité du logiciel de caisse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013AFB"/>
                </a:solidFill>
                <a:latin typeface="IBM Plex Sans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420000"/>
            <a:ext cx="8503920" cy="42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000" y="4420000"/>
            <a:ext cx="820392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Dans l'onglet Stocks : saisir le stock en rayon, la quantité à commander et l'alerte se calculent.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900000"/>
            <a:ext cx="3872000" cy="30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040" y="900000"/>
            <a:ext cx="371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ontserrat"/>
              </a:rPr>
              <a:t>Stock minimum conseillé pour octobre, en unités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040" y="1420000"/>
            <a:ext cx="3100000" cy="295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300000"/>
            <a:ext cx="5000000" cy="295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0040" y="1370000"/>
            <a:ext cx="4860000" cy="28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30040" y="1390000"/>
          <a:ext cx="4780000" cy="279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5650000" y="900000"/>
            <a:ext cx="3174000" cy="100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50000" y="900000"/>
            <a:ext cx="45720" cy="100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0000" y="1010000"/>
            <a:ext cx="2914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Paracétamol en tête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0000" y="1300000"/>
            <a:ext cx="2914000" cy="5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IBM Plex Sans"/>
              </a:rPr>
              <a:t>N02BE : 40,8 ventes par jour, soit 1 266 unités pour octobre.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0000" y="2000000"/>
            <a:ext cx="3174000" cy="118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50000" y="2000000"/>
            <a:ext cx="45720" cy="118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0000" y="2110000"/>
            <a:ext cx="2914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Jours sans vente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0000" y="2400000"/>
            <a:ext cx="2914000" cy="7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IBM Plex Sans"/>
              </a:rPr>
              <a:t>N05C : 68 % des jours (jusqu'à 23 d'affilée), R03 : 22 %, R06 : 11 %. Un jour sans vente n'est pas forcément une rupture.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50000" y="3280000"/>
            <a:ext cx="3174000" cy="97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50000" y="3280000"/>
            <a:ext cx="45720" cy="97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0000" y="3390000"/>
            <a:ext cx="2914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Calcul (onglet Stocks)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0000" y="3680000"/>
            <a:ext cx="291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IBM Plex Sans"/>
              </a:rPr>
              <a:t>Tendance d'octobre 2014-2018 prolongée à 2019, × 31 jours.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4864"/>
            <a:ext cx="329184" cy="329184"/>
          </a:xfrm>
          <a:prstGeom prst="line">
            <a:avLst/>
          </a:prstGeom>
          <a:ln w="63500">
            <a:solidFill>
              <a:srgbClr val="013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0" y="384048"/>
            <a:ext cx="329184" cy="329184"/>
          </a:xfrm>
          <a:prstGeom prst="line">
            <a:avLst/>
          </a:prstGeom>
          <a:ln w="63500">
            <a:solidFill>
              <a:srgbClr val="013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01752" y="352044"/>
            <a:ext cx="64008" cy="64008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6760" y="0"/>
            <a:ext cx="777240" cy="502920"/>
          </a:xfrm>
          <a:prstGeom prst="rect">
            <a:avLst/>
          </a:prstGeom>
          <a:solidFill>
            <a:srgbClr val="799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0000"/>
            <a:ext cx="780000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0" i="0">
                <a:solidFill>
                  <a:srgbClr val="013AFB"/>
                </a:solidFill>
                <a:latin typeface="Anton"/>
              </a:rPr>
              <a:t>Utilisation de l'outil</a:t>
            </a:r>
            <a:r>
              <a:rPr sz="2400" b="0" i="0">
                <a:solidFill>
                  <a:srgbClr val="00F08C"/>
                </a:solidFill>
                <a:latin typeface="Anton"/>
              </a:rPr>
              <a:t>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20000"/>
            <a:ext cx="60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7685"/>
                </a:solidFill>
                <a:latin typeface="IBM Plex Sans"/>
              </a:rPr>
              <a:t>Pharmacien achats  ·  Ventes 2014-2019, 8 groupes ATC, volumes dans l'unité du logiciel de caisse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013AFB"/>
                </a:solidFill>
                <a:latin typeface="IBM Plex Sans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1000000"/>
            <a:ext cx="420000" cy="420000"/>
          </a:xfrm>
          <a:prstGeom prst="ellipse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00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980000"/>
            <a:ext cx="43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13AFB"/>
                </a:solidFill>
                <a:latin typeface="Montserrat"/>
              </a:rPr>
              <a:t>Début de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1280000"/>
            <a:ext cx="430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IBM Plex Sans"/>
              </a:rPr>
              <a:t>Onglet Recherche : un ou plusieurs groupes, une période ; lire les ventes du même mois les années passées.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" y="2080000"/>
            <a:ext cx="420000" cy="420000"/>
          </a:xfrm>
          <a:prstGeom prst="ellipse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80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2060000"/>
            <a:ext cx="43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13AFB"/>
                </a:solidFill>
                <a:latin typeface="Montserrat"/>
              </a:rPr>
              <a:t>Avant la commande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2360000"/>
            <a:ext cx="430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IBM Plex Sans"/>
              </a:rPr>
              <a:t>Onglet Stocks : saisir le stock en rayon (seule saisie manuelle), lire le stock minimum conseillé, la quantité à commander et l'alerte.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" y="3160000"/>
            <a:ext cx="420000" cy="420000"/>
          </a:xfrm>
          <a:prstGeom prst="ellipse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160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3140000"/>
            <a:ext cx="43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13AFB"/>
                </a:solidFill>
                <a:latin typeface="Montserrat"/>
              </a:rPr>
              <a:t>Chaque lundi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3440000"/>
            <a:ext cx="430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IBM Plex Sans"/>
              </a:rPr>
              <a:t>Onglet Calendrier : pics d'épidémie de la semaine, vacances scolaires et jours fériés.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000" y="1000000"/>
            <a:ext cx="3170000" cy="150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50000" y="1000000"/>
            <a:ext cx="45720" cy="150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0000" y="1110000"/>
            <a:ext cx="291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Votre périmètre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0000" y="1400000"/>
            <a:ext cx="2910000" cy="10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IBM Plex Sans"/>
              </a:rPr>
              <a:t>Volumes par groupe, jour, semaine, mois ; saisons ; stock conseillé et alertes. Ne transmettez ni l'export ni le classeur à un laboratoire (données de santé, secret professionnel) : la proposition relève du titulaire.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000" y="2620000"/>
            <a:ext cx="3170000" cy="165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000" y="2620000"/>
            <a:ext cx="45720" cy="165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0000" y="2730000"/>
            <a:ext cx="291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13AFB"/>
                </a:solidFill>
                <a:latin typeface="Montserrat"/>
              </a:rPr>
              <a:t>Limites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0000" y="3020000"/>
            <a:ext cx="2910000" cy="1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IBM Plex Sans"/>
              </a:rPr>
              <a:t>Unité des quantités inconnue, aucun prix, aucun historique de stock. Une journée sans vente n'est pas forcément une rupture.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20000"/>
            <a:ext cx="6650000" cy="420000"/>
          </a:xfrm>
          <a:prstGeom prst="rect">
            <a:avLst/>
          </a:prstGeom>
          <a:solidFill>
            <a:srgbClr val="013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420000"/>
            <a:ext cx="64008" cy="420000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0000" y="4420000"/>
            <a:ext cx="635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Prochaine étape : historique des stocks et saisie automatique du stock en rayon.</a:t>
            </a:r>
          </a:p>
        </p:txBody>
      </p:sp>
      <p:sp>
        <p:nvSpPr>
          <p:cNvPr id="32" name="Rectangle 31">
            <a:hlinkClick r:id="rId4"/>
          </p:cNvPr>
          <p:cNvSpPr/>
          <p:nvPr/>
        </p:nvSpPr>
        <p:spPr>
          <a:xfrm>
            <a:off x="7150000" y="4350000"/>
            <a:ext cx="1674000" cy="560000"/>
          </a:xfrm>
          <a:prstGeom prst="rect">
            <a:avLst/>
          </a:prstGeom>
          <a:solidFill>
            <a:srgbClr val="E3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>
            <a:hlinkClick r:id="rId4"/>
          </p:cNvPr>
          <p:cNvSpPr/>
          <p:nvPr/>
        </p:nvSpPr>
        <p:spPr>
          <a:xfrm>
            <a:off x="7150000" y="4350000"/>
            <a:ext cx="45720" cy="560000"/>
          </a:xfrm>
          <a:prstGeom prst="rect">
            <a:avLst/>
          </a:prstGeom>
          <a:solidFill>
            <a:srgbClr val="00F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4" name="Object 33">
            <a:hlinkClick r:id="rId4"/>
          </p:cNvPr>
          <p:cNvGraphicFramePr>
            <a:graphicFrameLocks noGrp="1"/>
          </p:cNvGraphicFramePr>
          <p:nvPr/>
        </p:nvGraphicFramePr>
        <p:xfrm>
          <a:off x="7250000" y="4420000"/>
          <a:ext cx="420000" cy="420000"/>
        </p:xfrm>
        <a:graphic>
          <a:graphicData uri="http://schemas.openxmlformats.org/presentationml/2006/ole">
            <p:oleObj showAsIcon="1" r:id="rId2" imgW="965200" imgH="60960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250000" y="4420000"/>
                    <a:ext cx="420000" cy="420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35" name="TextBox 34">
            <a:hlinkClick r:id="rId4"/>
          </p:cNvPr>
          <p:cNvSpPr txBox="1"/>
          <p:nvPr/>
        </p:nvSpPr>
        <p:spPr>
          <a:xfrm>
            <a:off x="7720000" y="4350000"/>
            <a:ext cx="108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013AFB"/>
                </a:solidFill>
                <a:latin typeface="Montserrat"/>
                <a:hlinkClick r:id="rId4"/>
              </a:rPr>
              <a:t>Outil</a:t>
            </a:r>
          </a:p>
          <a:p>
            <a:pPr algn="l"/>
            <a:r>
              <a:rPr sz="850" b="0" i="0">
                <a:solidFill>
                  <a:srgbClr val="1A1A2E"/>
                </a:solidFill>
                <a:latin typeface="IBM Plex Sans"/>
                <a:hlinkClick r:id="rId4"/>
              </a:rPr>
              <a:t>Pharmacie_Analyse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