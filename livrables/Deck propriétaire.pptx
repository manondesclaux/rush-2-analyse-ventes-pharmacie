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vmlDrawing1.vml" ContentType="application/vnd.openxmlformats-officedocument.vmlDrawing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Anton"/>
      <p:regular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IlWxMXozdIl6oqiZ1wXiTFsDU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557560-5AAB-4E1C-9832-993B20036FF1}">
  <a:tblStyle styleId="{D9557560-5AAB-4E1C-9832-993B20036F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IBMPlexSans-regular.fntdata"/><Relationship Id="rId13" Type="http://schemas.openxmlformats.org/officeDocument/2006/relationships/font" Target="fonts/IBMPlexSans-bold.fntdata"/><Relationship Id="rId14" Type="http://schemas.openxmlformats.org/officeDocument/2006/relationships/font" Target="fonts/IBMPlexSans-italic.fntdata"/><Relationship Id="rId15" Type="http://schemas.openxmlformats.org/officeDocument/2006/relationships/font" Target="fonts/IBMPlexSans-boldItalic.fntdata"/><Relationship Id="rId16" Type="http://schemas.openxmlformats.org/officeDocument/2006/relationships/font" Target="fonts/Anton-regular.fntdata"/><Relationship Id="rId17" Type="http://schemas.openxmlformats.org/officeDocument/2006/relationships/font" Target="fonts/Montserrat-regular.fntdata"/><Relationship Id="rId18" Type="http://schemas.openxmlformats.org/officeDocument/2006/relationships/font" Target="fonts/Montserrat-bold.fntdata"/><Relationship Id="rId19" Type="http://schemas.openxmlformats.org/officeDocument/2006/relationships/font" Target="fonts/Montserrat-italic.fntdata"/><Relationship Id="rId20" Type="http://schemas.openxmlformats.org/officeDocument/2006/relationships/font" Target="fonts/Montserrat-boldItalic.fntdata"/><Relationship Id="rId21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ventes</c:v>
                </c:pt>
              </c:strCache>
            </c:strRef>
          </c:tx>
          <c:spPr>
            <a:solidFill>
              <a:srgbClr val="013AFB"/>
            </a:solidFill>
          </c:spPr>
          <c:invertIfNegative val="0"/>
          <c:dPt>
            <c:idx val="0"/>
            <c:spPr>
              <a:solidFill>
                <a:srgbClr val="7996F9"/>
              </a:solidFill>
            </c:spPr>
          </c:dPt>
          <c:dPt>
            <c:idx val="1"/>
            <c:spPr>
              <a:solidFill>
                <a:srgbClr val="7996F9"/>
              </a:solidFill>
            </c:spPr>
          </c:dPt>
          <c:dPt>
            <c:idx val="2"/>
            <c:spPr>
              <a:solidFill>
                <a:srgbClr val="7996F9"/>
              </a:solidFill>
            </c:spPr>
          </c:dPt>
          <c:dPt>
            <c:idx val="3"/>
            <c:spPr>
              <a:solidFill>
                <a:srgbClr val="7996F9"/>
              </a:solidFill>
            </c:spPr>
          </c:dPt>
          <c:dPt>
            <c:idx val="4"/>
            <c:spPr>
              <a:solidFill>
                <a:srgbClr val="013AFB"/>
              </a:solidFill>
            </c:spPr>
          </c:dPt>
          <c:dPt>
            <c:idx val="5"/>
            <c:spPr>
              <a:solidFill>
                <a:srgbClr val="013AFB"/>
              </a:solidFill>
            </c:spPr>
          </c:dPt>
          <c:dPt>
            <c:idx val="6"/>
            <c:spPr>
              <a:solidFill>
                <a:srgbClr val="013AFB"/>
              </a:solidFill>
            </c:spPr>
          </c:dPt>
          <c:dPt>
            <c:idx val="7"/>
            <c:spPr>
              <a:solidFill>
                <a:srgbClr val="7996F9"/>
              </a:solidFill>
            </c:spPr>
          </c:dPt>
          <c:dPt>
            <c:idx val="8"/>
            <c:spPr>
              <a:solidFill>
                <a:srgbClr val="7996F9"/>
              </a:solidFill>
            </c:spPr>
          </c:dPt>
          <c:dPt>
            <c:idx val="9"/>
            <c:spPr>
              <a:solidFill>
                <a:srgbClr val="7996F9"/>
              </a:solidFill>
            </c:spPr>
          </c:dPt>
          <c:dPt>
            <c:idx val="10"/>
            <c:spPr>
              <a:solidFill>
                <a:srgbClr val="7996F9"/>
              </a:solidFill>
            </c:spPr>
          </c:dPt>
          <c:dPt>
            <c:idx val="11"/>
            <c:spPr>
              <a:solidFill>
                <a:srgbClr val="013AFB"/>
              </a:solidFill>
            </c:spPr>
          </c:dPt>
          <c:dPt>
            <c:idx val="12"/>
            <c:spPr>
              <a:solidFill>
                <a:srgbClr val="013AFB"/>
              </a:solidFill>
            </c:spPr>
          </c:dPt>
          <c:dPt>
            <c:idx val="13"/>
            <c:spPr>
              <a:solidFill>
                <a:srgbClr val="013AFB"/>
              </a:solidFill>
            </c:spPr>
          </c:dPt>
          <c:dPt>
            <c:idx val="14"/>
            <c:spPr>
              <a:solidFill>
                <a:srgbClr val="7996F9"/>
              </a:solidFill>
            </c:spPr>
          </c:dPt>
          <c:dPt>
            <c:idx val="15"/>
            <c:spPr>
              <a:solidFill>
                <a:srgbClr val="7996F9"/>
              </a:solidFill>
            </c:spPr>
          </c:dPt>
          <c:cat>
            <c:strRef>
              <c:f>Sheet1!$A$2:$A$17</c:f>
              <c:strCache>
                <c:ptCount val="16"/>
                <c:pt idx="0">
                  <c:v>7h</c:v>
                </c:pt>
                <c:pt idx="1">
                  <c:v>8h</c:v>
                </c:pt>
                <c:pt idx="2">
                  <c:v>9h</c:v>
                </c:pt>
                <c:pt idx="3">
                  <c:v>10h</c:v>
                </c:pt>
                <c:pt idx="4">
                  <c:v>11h</c:v>
                </c:pt>
                <c:pt idx="5">
                  <c:v>12h</c:v>
                </c:pt>
                <c:pt idx="6">
                  <c:v>13h</c:v>
                </c:pt>
                <c:pt idx="7">
                  <c:v>14h</c:v>
                </c:pt>
                <c:pt idx="8">
                  <c:v>15h</c:v>
                </c:pt>
                <c:pt idx="9">
                  <c:v>16h</c:v>
                </c:pt>
                <c:pt idx="10">
                  <c:v>17h</c:v>
                </c:pt>
                <c:pt idx="11">
                  <c:v>18h</c:v>
                </c:pt>
                <c:pt idx="12">
                  <c:v>19h</c:v>
                </c:pt>
                <c:pt idx="13">
                  <c:v>20h</c:v>
                </c:pt>
                <c:pt idx="14">
                  <c:v>21h</c:v>
                </c:pt>
                <c:pt idx="15">
                  <c:v>22h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0.5</c:v>
                </c:pt>
                <c:pt idx="1">
                  <c:v>4.8</c:v>
                </c:pt>
                <c:pt idx="2">
                  <c:v>6.4</c:v>
                </c:pt>
                <c:pt idx="3">
                  <c:v>7.6</c:v>
                </c:pt>
                <c:pt idx="4">
                  <c:v>8.4</c:v>
                </c:pt>
                <c:pt idx="5">
                  <c:v>8.2</c:v>
                </c:pt>
                <c:pt idx="6">
                  <c:v>7.4</c:v>
                </c:pt>
                <c:pt idx="7">
                  <c:v>6.8</c:v>
                </c:pt>
                <c:pt idx="8">
                  <c:v>6.4</c:v>
                </c:pt>
                <c:pt idx="9">
                  <c:v>6.1</c:v>
                </c:pt>
                <c:pt idx="10">
                  <c:v>6.5</c:v>
                </c:pt>
                <c:pt idx="11">
                  <c:v>8.0</c:v>
                </c:pt>
                <c:pt idx="12">
                  <c:v>8.9</c:v>
                </c:pt>
                <c:pt idx="13">
                  <c:v>8.8</c:v>
                </c:pt>
                <c:pt idx="14">
                  <c:v>5.2</c:v>
                </c:pt>
                <c:pt idx="15">
                  <c:v>0.1</c:v>
                </c:pt>
              </c:numCache>
            </c:numRef>
          </c:val>
        </c:ser>
        <c:gapWidth val="3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F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5EE"/>
              </a:solidFill>
            </a:ln>
          </c:spPr>
        </c:majorGridlines>
        <c:numFmt formatCode="0&quot; 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3D4553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013AFB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Mois</c:v>
                </c:pt>
                <c:pt idx="1">
                  <c:v>Semaine</c:v>
                </c:pt>
                <c:pt idx="2">
                  <c:v>Jour</c:v>
                </c:pt>
                <c:pt idx="3">
                  <c:v>Heure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21.8</c:v>
                </c:pt>
                <c:pt idx="2">
                  <c:v>75.4</c:v>
                </c:pt>
                <c:pt idx="3">
                  <c:v>85.6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F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Gridlines>
          <c:spPr>
            <a:ln>
              <a:solidFill>
                <a:srgbClr val="E1E5EE"/>
              </a:solidFill>
            </a:ln>
          </c:spPr>
        </c:majorGridlines>
        <c:numFmt formatCode="0&quot; 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3D4553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Manon Desclaux</a:t>
            </a:r>
          </a:p>
          <a:p/>
          <a:p>
            <a:r>
              <a:t>[Deck propriétaire · slide 1 – 0:00 à 0:30]</a:t>
            </a:r>
          </a:p>
          <a:p>
            <a:r>
              <a:t>Bonjour. Vous nous avez posé trois questions : « qu'est-ce que je dois changer dans le fonctionnement de la pharmacie ? », « qu'est-ce qui relève de la pharmacie, et qu'est-ce qui relève de son environnement ? », et « un laboratoire me propose de meilleures conditions d'achat contre l'export : qu'est-ce que je risque ? »</a:t>
            </a:r>
          </a:p>
          <a:p>
            <a:r>
              <a:t>Je vais y répondre dans cet ordre, en vous expliquant comment nous avons raisonné.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Manon Desclaux</a:t>
            </a:r>
          </a:p>
          <a:p/>
          <a:p>
            <a:r>
              <a:t>[Deck propriétaire · slide 2, puis classeur Pharmacie_Analyse, onglet Environnement (Facteur en B3) – 0:30 à 1:40]</a:t>
            </a:r>
          </a:p>
          <a:p>
            <a:r>
              <a:t>Pour séparer l'environnement de l'officine, le réflexe serait de superposer les courbes. Nous l'avons écarté : à l'œil, tout ce qui monte l'hiver a l'air lié.</a:t>
            </a:r>
          </a:p>
          <a:p>
            <a:r>
              <a:t>Nous avons mesuré. Sur 300 semaines, nous avons mis vos ventes en face de cinq données publiques — grippe, gastro, varicelle, température, pollens — et calculé quelle part des hausses et des baisses va de pair avec chacune. « Plus 34 % » pour la gastro, c'est un tiers de vos variations qui suivent l'épidémie.</a:t>
            </a:r>
          </a:p>
          <a:p>
            <a:r>
              <a:t>Le froid — 36 % —, la gastro — 34 % — et la grippe — 18 % — font votre hiver ; varicelle, chaleur et pollens, le printemps des antiallergiques.</a:t>
            </a:r>
          </a:p>
          <a:p>
            <a:r>
              <a:t>Mais l'environnement explique les saisons, pas les années. En 2017, vos ventes reculent de 24 % ; or la grippe a été plus faible en 2018, et vos ventes sont remontées. Ce recul vient de l'officine ou du quartier.</a:t>
            </a:r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Manon Desclaux</a:t>
            </a:r>
          </a:p>
          <a:p/>
          <a:p>
            <a:r>
              <a:t>[Deck propriétaire · slide 3, puis classeur Pharmacie_Analyse, onglet Activité (cases H7, J7, L7) – 1:40 à 2:40]</a:t>
            </a:r>
          </a:p>
          <a:p>
            <a:r>
              <a:t>Ce qui dépend entièrement de vous, c'est l'organisation. Avec l'export horaire, qui concorde exactement avec le journalier, nous avons regardé quand vos clients viennent. L'onglet Activité le résume : mois le plus fort janvier, jour le plus fort samedi, heure de pointe 19 heures.</a:t>
            </a:r>
          </a:p>
          <a:p>
            <a:r>
              <a:t>Le soir pèse lourd : de 18 à 22 heures, 31 % des ventes, et le pic de 19 heures dépasse celui de midi. L'après-midi est creux, 6 à 7 % par heure, et le samedi fait 8 % de plus qu'un jour moyen. D'où notre préconisation : renfort de 18 à 21 heures et le samedi, pauses entre 14 et 17 heures. Limite : ce sont huit groupes de médicaments, pas toute votre activité.</a:t>
            </a:r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Manon Desclaux</a:t>
            </a:r>
          </a:p>
          <a:p/>
          <a:p>
            <a:r>
              <a:t>[Deck propriétaire · slide 4 – 2:40 à 3:55]</a:t>
            </a:r>
          </a:p>
          <a:p>
            <a:r>
              <a:t>Le laboratoire pourrait-il apprendre quelque chose sur un client ? Le réflexe : il n'y a ni nom ni ordonnance, donc c'est anonyme. Nous l'avons écarté : pour le RGPD, une donnée n'est anonyme que si personne ne peut retrouver la personne en recoupant.</a:t>
            </a:r>
          </a:p>
          <a:p>
            <a:r>
              <a:t>Mettons-nous à la place de quelqu'un qui connaît l'officine. Chaque barre est un niveau de détail ; sa longueur, la part des ventes d'hypnotiques qui portent sur une ou deux boîtes, donc sur une seule personne. À l'heure : 86 %. Au jour : 75 %. Au mois : 0 %.</a:t>
            </a:r>
          </a:p>
          <a:p>
            <a:r>
              <a:t>À l'heure ou au jour, c'est une donnée de santé, couverte par votre secret professionnel — un an et 15 000 euros en cas de violation. Au mois, le risque disparaît : c'est le niveau partageable.</a:t>
            </a:r>
          </a:p>
          <a:p>
            <a:r>
              <a:t>Restent deux risques : une remise en échange des données serait un avantage interdit — un an et 75 000 euros —, et une anonymisation mal tenue coûte cher : 5 millions d'euros pour IQVIA en mai 2026.</a:t>
            </a:r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INTERVENANTE : Manon Desclaux</a:t>
            </a:r>
          </a:p>
          <a:p/>
          <a:p>
            <a:r>
              <a:t>[Deck propriétaire · slide 5 – 3:55 à 5:00]</a:t>
            </a:r>
          </a:p>
          <a:p>
            <a:r>
              <a:t>Pour conclure, mes réponses. Le laboratoire : oui, sous quatre conditions — données au mois uniquement, groupes sensibles exclus, petits volumes masqués ; un contrat qui interdit de revendre et d'identifier ; une remise indépendante des données ; l'avis d'un juriste santé et de l'Ordre. Si une condition manque, on ne signe pas.</a:t>
            </a:r>
          </a:p>
          <a:p>
            <a:r>
              <a:t>Le fonctionnement : renfort le soir et le samedi. L'environnement : il fait vos saisons, mais 2017 dépend de vous.</a:t>
            </a:r>
          </a:p>
          <a:p>
            <a:r>
              <a:t>Trois limites : aucun prix, aucun stock, données arrêtées en 2019. Merci, je prends vos questions.</a:t>
            </a:r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package" Target="../embeddings/Microsoft_Excel_Sheet3.xlsx"/><Relationship Id="rId5" Type="http://schemas.openxmlformats.org/officeDocument/2006/relationships/package" Target="../embeddings/Microsoft_Excel_Sheet3.xlsx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A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92240" y="0"/>
            <a:ext cx="2651760" cy="11887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303520" y="1188720"/>
            <a:ext cx="1188720" cy="11887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132588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739053" y="308610"/>
            <a:ext cx="450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F08C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 MBA promo 2028 – Groupe les 3 M &gt;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20040" y="594360"/>
            <a:ext cx="7600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Deck propriétaire</a:t>
            </a:r>
            <a:r>
              <a:rPr b="0" i="0" lang="en-US" sz="4400" u="none" cap="none" strike="noStrike">
                <a:solidFill>
                  <a:srgbClr val="F05028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20040" y="1600000"/>
            <a:ext cx="500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00F08C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Analyse des ventes pharmaceutiques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92024" y="2470000"/>
            <a:ext cx="280508" cy="329183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40080" y="2400000"/>
            <a:ext cx="7900000" cy="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Environnement, activité de l'officine et partage des données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6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90080" y="3130000"/>
            <a:ext cx="2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-24 %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90080" y="3560000"/>
            <a:ext cx="23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3E9FD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ventes par jour en 2017 par rapport à 2016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33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3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490080" y="3130000"/>
            <a:ext cx="2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31 %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3490080" y="3560000"/>
            <a:ext cx="23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3E9FD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 ventes entre 18 h et 22 h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60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60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190080" y="3130000"/>
            <a:ext cx="23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86 %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6190080" y="3560000"/>
            <a:ext cx="23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E3E9FD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 ventes horaires d'hypnotiques portent sur 1 ou 2 unités : un patient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40080" y="425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 u="none" cap="none" strike="noStrike">
                <a:solidFill>
                  <a:srgbClr val="00F08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Recommandation 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accepter l'accord du laboratoire sous conditions (données au mois, contrat, remise indépendante, avis juridique), revoir le planning, comprendre 2017.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2"/>
          <p:cNvCxnSpPr/>
          <p:nvPr/>
        </p:nvCxnSpPr>
        <p:spPr>
          <a:xfrm>
            <a:off x="0" y="54864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1" name="Google Shape;111;p2"/>
          <p:cNvCxnSpPr/>
          <p:nvPr/>
        </p:nvCxnSpPr>
        <p:spPr>
          <a:xfrm flipH="1" rot="10800000">
            <a:off x="0" y="384048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2" name="Google Shape;112;p2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Environnement de la pharmacie</a:t>
            </a:r>
            <a:r>
              <a:rPr b="0" i="0" lang="en-US" sz="2400" u="none" cap="none" strike="noStrike">
                <a:solidFill>
                  <a:srgbClr val="00F08C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685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Propriétaire  ·  Ventes 2014-2019, 8 groupes ATC, volumes dans l'unité du logiciel de caisse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320040" y="900000"/>
            <a:ext cx="6076000" cy="3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30040" y="900000"/>
            <a:ext cx="591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Évolution des ventes avec chaque facteur (part des variations hebdomadaires)</a:t>
            </a:r>
            <a:endParaRPr/>
          </a:p>
        </p:txBody>
      </p:sp>
      <p:graphicFrame>
        <p:nvGraphicFramePr>
          <p:cNvPr id="119" name="Google Shape;119;p2"/>
          <p:cNvGraphicFramePr/>
          <p:nvPr/>
        </p:nvGraphicFramePr>
        <p:xfrm>
          <a:off x="320040" y="126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{D9557560-5AAB-4E1C-9832-993B20036FF1}</a:tableStyleId>
              </a:tblPr>
              <a:tblGrid>
                <a:gridCol w="1120000"/>
                <a:gridCol w="784000"/>
                <a:gridCol w="784000"/>
                <a:gridCol w="784000"/>
                <a:gridCol w="1288000"/>
                <a:gridCol w="840000"/>
              </a:tblGrid>
              <a:tr h="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Groupe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Grippe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Gastro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Varicelle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Température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Pollens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013AFB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M01AE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+ 15 %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+ 7 %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Froid + 9 %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N02BA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+ 6 %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+ 15 %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Froid + 8 %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N02BE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+ 17 %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+ 34 %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Froid + 33 %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E5FA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- 7 %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N05B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+ 7 %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R03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+ 8 %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+ 8 %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Froid + 21 %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R06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E5FA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- 10 %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E5FA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- 28 %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+ 19 %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Chaleur + 12 %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+ 11 %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FFFFFF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A1A2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Toutes ventes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+ 18 %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+ 34 %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Froid + 36 %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E5FA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- 5 %</a:t>
                      </a:r>
                      <a:endParaRPr/>
                    </a:p>
                  </a:txBody>
                  <a:tcPr marT="25000" marB="25000" marR="70000" marL="70000" anchor="ctr">
                    <a:solidFill>
                      <a:srgbClr val="E3E9FD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2"/>
          <p:cNvSpPr txBox="1"/>
          <p:nvPr/>
        </p:nvSpPr>
        <p:spPr>
          <a:xfrm>
            <a:off x="320040" y="4010000"/>
            <a:ext cx="560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D4553"/>
                </a:solidFill>
                <a:latin typeface="IBM Plex Sans"/>
                <a:ea typeface="IBM Plex Sans"/>
                <a:cs typeface="IBM Plex Sans"/>
                <a:sym typeface="IBM Plex Sans"/>
              </a:rPr>
              <a:t>+ : les ventes montent avec le facteur ; - : elles baissent ; vide : pas de lien (M01AB et N05C : aucun lien). Sources : Réseau Sentinelles (France), Météo-France et RNSA (Montpellier), 2014-2019.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6150000" y="900000"/>
            <a:ext cx="1820000" cy="3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260000" y="900000"/>
            <a:ext cx="16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Pic moyen de l'année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6150000" y="1260000"/>
            <a:ext cx="2674000" cy="270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150000" y="1260000"/>
            <a:ext cx="45720" cy="27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330000" y="13400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Grippe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7600000" y="1340000"/>
            <a:ext cx="11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Début février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330000" y="17700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Gastro-entérite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7600000" y="1770000"/>
            <a:ext cx="11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Début janvier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330000" y="22000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Varicelle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7600000" y="2200000"/>
            <a:ext cx="11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Mi-avril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6330000" y="26300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Pollens (graminées)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7600000" y="2630000"/>
            <a:ext cx="11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Mi-juin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6330000" y="30600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Chaleur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7600000" y="3060000"/>
            <a:ext cx="11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 juillet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6330000" y="3490000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Ventes de l'officine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7600000" y="3490000"/>
            <a:ext cx="11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 décembre</a:t>
            </a: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320040" y="4420000"/>
            <a:ext cx="8503920" cy="4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520000" y="4420000"/>
            <a:ext cx="820392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Gastro, froid et grippe font monter les ventes d'hiver ; varicelle, chaleur et pollens, celles de R06.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3"/>
          <p:cNvCxnSpPr/>
          <p:nvPr/>
        </p:nvCxnSpPr>
        <p:spPr>
          <a:xfrm>
            <a:off x="0" y="54864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5" name="Google Shape;145;p3"/>
          <p:cNvCxnSpPr/>
          <p:nvPr/>
        </p:nvCxnSpPr>
        <p:spPr>
          <a:xfrm flipH="1" rot="10800000">
            <a:off x="0" y="384048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6" name="Google Shape;146;p3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Activité de l'officine</a:t>
            </a:r>
            <a:r>
              <a:rPr b="0" i="0" lang="en-US" sz="2400" u="none" cap="none" strike="noStrike">
                <a:solidFill>
                  <a:srgbClr val="00F08C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685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Propriétaire  ·  Ventes 2014-2019, 8 groupes ATC, volumes dans l'unité du logiciel de caisse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320040" y="900000"/>
            <a:ext cx="4176000" cy="3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430040" y="900000"/>
            <a:ext cx="401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 des ventes par heure (tous groupes, 2014-2019)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230040" y="1420000"/>
            <a:ext cx="3100000" cy="295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320040" y="1300000"/>
            <a:ext cx="5000000" cy="295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390040" y="1370000"/>
            <a:ext cx="4860000" cy="28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3"/>
          <p:cNvGraphicFramePr/>
          <p:nvPr/>
        </p:nvGraphicFramePr>
        <p:xfrm>
          <a:off x="430040" y="1390000"/>
          <a:ext cx="4780000" cy="2790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7" name="Google Shape;157;p3"/>
          <p:cNvSpPr/>
          <p:nvPr/>
        </p:nvSpPr>
        <p:spPr>
          <a:xfrm>
            <a:off x="5650000" y="900000"/>
            <a:ext cx="3174000" cy="7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5650000" y="900000"/>
            <a:ext cx="45720" cy="7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5820000" y="970000"/>
            <a:ext cx="29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Soir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5820000" y="1220000"/>
            <a:ext cx="29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18 h-22 h = 31 % des ventes ; le pic de 19 h dépasse celui de midi.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5650000" y="1750000"/>
            <a:ext cx="3174000" cy="7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650000" y="1750000"/>
            <a:ext cx="45720" cy="7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5820000" y="1820000"/>
            <a:ext cx="29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Après-midi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5820000" y="2070000"/>
            <a:ext cx="29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Creux de 14 h à 17 h : 6 à 7 % des ventes par heure.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5650000" y="2600000"/>
            <a:ext cx="3174000" cy="7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650000" y="2600000"/>
            <a:ext cx="45720" cy="7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5820000" y="2670000"/>
            <a:ext cx="29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Samedi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5820000" y="2920000"/>
            <a:ext cx="29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+8 % par rapport au jour moyen ; le dimanche reste actif.</a:t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5650000" y="3450000"/>
            <a:ext cx="3174000" cy="7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5650000" y="3450000"/>
            <a:ext cx="45720" cy="7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5820000" y="3520000"/>
            <a:ext cx="29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Année 2017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5820000" y="3770000"/>
            <a:ext cx="29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-24 % de ventes par jour ; grippe plus faible en 2018, ventes pourtant remontées.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320040" y="4420000"/>
            <a:ext cx="8503920" cy="4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520000" y="4420000"/>
            <a:ext cx="820392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Renfort de 18 h à 21 h et le samedi ; pauses de 14 h à 17 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4"/>
          <p:cNvCxnSpPr/>
          <p:nvPr/>
        </p:nvCxnSpPr>
        <p:spPr>
          <a:xfrm>
            <a:off x="0" y="54864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1" name="Google Shape;181;p4"/>
          <p:cNvCxnSpPr/>
          <p:nvPr/>
        </p:nvCxnSpPr>
        <p:spPr>
          <a:xfrm flipH="1" rot="10800000">
            <a:off x="0" y="384048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2" name="Google Shape;182;p4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Proposition du laboratoire</a:t>
            </a:r>
            <a:r>
              <a:rPr b="0" i="0" lang="en-US" sz="2400" u="none" cap="none" strike="noStrike">
                <a:solidFill>
                  <a:srgbClr val="00F08C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685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Propriétaire  ·  Ventes 2014-2019, 8 groupes ATC, volumes dans l'unité du logiciel de caisse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320040" y="1000000"/>
            <a:ext cx="4328000" cy="30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430040" y="1000000"/>
            <a:ext cx="416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Hypnotiques (N05C) : part des ventes de 1 ou 2 unités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230040" y="1520000"/>
            <a:ext cx="2666000" cy="165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20040" y="1400000"/>
            <a:ext cx="4300000" cy="165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90040" y="1470000"/>
            <a:ext cx="4160000" cy="15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4"/>
          <p:cNvGraphicFramePr/>
          <p:nvPr/>
        </p:nvGraphicFramePr>
        <p:xfrm>
          <a:off x="430040" y="1490000"/>
          <a:ext cx="4080000" cy="1490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93" name="Google Shape;193;p4"/>
          <p:cNvSpPr txBox="1"/>
          <p:nvPr/>
        </p:nvSpPr>
        <p:spPr>
          <a:xfrm>
            <a:off x="320040" y="3250000"/>
            <a:ext cx="43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Noto Sans Symbols"/>
              <a:buChar char="❑"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Ni nom ni ordonnance dans l'export, mais une donnée n'est anonyme que si personne ne peut retrouver l'individu par des moyens raisonnables (RGPD, considérant 26 ; avis 05/2014 des CNIL européennes).</a:t>
            </a:r>
            <a:endParaRPr/>
          </a:p>
          <a:p>
            <a:pPr indent="-228600" lvl="0" marL="2286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Noto Sans Symbols"/>
              <a:buChar char="❑"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Au jour ou à l'heure, une vente d'hypnotique ou d'anxiolytique = une personne reconnaissable : donnée de santé (RGPD art. 9), couverte par votre secret professionnel.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4900000" y="1000000"/>
            <a:ext cx="3920000" cy="7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4900000" y="1000000"/>
            <a:ext cx="45720" cy="7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5070000" y="1110000"/>
            <a:ext cx="366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Secret professionnel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5070000" y="1400000"/>
            <a:ext cx="366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CSP L.1110-4 et R.4235-5 ; Code pénal 226-13 : 1 an et 15 000 €.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4900000" y="1830000"/>
            <a:ext cx="3920000" cy="7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4900000" y="1830000"/>
            <a:ext cx="45720" cy="7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5070000" y="1940000"/>
            <a:ext cx="366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Anti-cadeaux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5070000" y="2230000"/>
            <a:ext cx="366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Remise contre données ≠ remise d'achat : avantage interdit (CSP L.1453-3) ; 1 an et 75 000 € (L.1454-7).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4900000" y="2660000"/>
            <a:ext cx="3920000" cy="7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4900000" y="2660000"/>
            <a:ext cx="45720" cy="7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5070000" y="2770000"/>
            <a:ext cx="366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Indépendance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5070000" y="3060000"/>
            <a:ext cx="366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Code de déontologie 2026 : CSP R.4235-13 (indépendance), R.4235-16 (conflit d'intérêts).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4900000" y="3490000"/>
            <a:ext cx="3920000" cy="7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900000" y="3490000"/>
            <a:ext cx="45720" cy="7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5070000" y="3600000"/>
            <a:ext cx="366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Précédent CNIL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5070000" y="3890000"/>
            <a:ext cx="366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IQVIA, 26 mai 2026 : 5 M€ ; données de 14 000 pharmacies jugées non anonymes.</a:t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320040" y="4420000"/>
            <a:ext cx="8503920" cy="4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520000" y="4420000"/>
            <a:ext cx="820392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Accepter sous conditions : données au mois uniquement, N05B/N05C exclus ou regroupés, petits volumes masqués ; contrat écrit ; remise indépendante des données et sous plafond (CSS L.138-9) ; avis d'un juriste santé et de l'Ordre.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5"/>
          <p:cNvCxnSpPr/>
          <p:nvPr/>
        </p:nvCxnSpPr>
        <p:spPr>
          <a:xfrm>
            <a:off x="0" y="54864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8" name="Google Shape;218;p5"/>
          <p:cNvCxnSpPr/>
          <p:nvPr/>
        </p:nvCxnSpPr>
        <p:spPr>
          <a:xfrm flipH="1" rot="10800000">
            <a:off x="0" y="384048"/>
            <a:ext cx="329184" cy="329184"/>
          </a:xfrm>
          <a:prstGeom prst="straightConnector1">
            <a:avLst/>
          </a:prstGeom>
          <a:noFill/>
          <a:ln cap="flat" cmpd="sng" w="63500">
            <a:solidFill>
              <a:srgbClr val="013A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9" name="Google Shape;219;p5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Recommandations</a:t>
            </a:r>
            <a:r>
              <a:rPr b="0" i="0" lang="en-US" sz="2400" u="none" cap="none" strike="noStrike">
                <a:solidFill>
                  <a:srgbClr val="00F08C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B7685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Propriétaire  ·  Ventes 2014-2019, 8 groupes ATC, volumes dans l'unité du logiciel de caisse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320040" y="1000000"/>
            <a:ext cx="4200000" cy="132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320040" y="1000000"/>
            <a:ext cx="45720" cy="13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500040" y="1150000"/>
            <a:ext cx="380000" cy="380000"/>
          </a:xfrm>
          <a:prstGeom prst="ellipse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500040" y="1150000"/>
            <a:ext cx="380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817840" y="1075200"/>
            <a:ext cx="335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Accepter l’accord sous conditions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392900" y="1353200"/>
            <a:ext cx="4200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-"/>
            </a:pPr>
            <a:r>
              <a:rPr lang="en-US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Grandes zones de données (mois uniquement), </a:t>
            </a:r>
            <a:r>
              <a:rPr b="1" lang="en-US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petits volumes masqués</a:t>
            </a:r>
            <a:endParaRPr b="1"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-"/>
            </a:pPr>
            <a:r>
              <a:rPr lang="en-US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Contrat écrit </a:t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-"/>
            </a:pPr>
            <a:r>
              <a:rPr lang="en-US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Remise indépendante</a:t>
            </a:r>
            <a:endParaRPr sz="9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-"/>
            </a:pPr>
            <a:r>
              <a:rPr lang="en-US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Validation : </a:t>
            </a:r>
            <a:r>
              <a:rPr b="1" lang="en-US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avis d’un juriste santé et du conseil régional de l’Ordre des pharmaciens</a:t>
            </a:r>
            <a:endParaRPr b="1"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2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620040" y="1000000"/>
            <a:ext cx="4200000" cy="132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620040" y="1000000"/>
            <a:ext cx="45720" cy="13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800040" y="1150000"/>
            <a:ext cx="380000" cy="380000"/>
          </a:xfrm>
          <a:prstGeom prst="ellipse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4800040" y="11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5320040" y="1170000"/>
            <a:ext cx="335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Revoir le planning de l'équipe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5320040" y="1560000"/>
            <a:ext cx="335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Renfort de 18 h à 21 h et le samedi ; pauses de 14 h à 17 h ; questionner les heures d'ouverture extrêmes.</a:t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320040" y="2430000"/>
            <a:ext cx="4200000" cy="132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320040" y="2430000"/>
            <a:ext cx="45720" cy="13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500040" y="2580000"/>
            <a:ext cx="380100" cy="380100"/>
          </a:xfrm>
          <a:prstGeom prst="ellipse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500040" y="2580000"/>
            <a:ext cx="380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1020040" y="2600000"/>
            <a:ext cx="3350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Comprendre 2017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1020040" y="2990000"/>
            <a:ext cx="335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 ventes ont baissé de 24 % en 2017 : chercher ce qui a changé cette année-là (concurrence, travaux, équipe, horaires).</a:t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4620040" y="2430000"/>
            <a:ext cx="4200000" cy="132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620040" y="2430000"/>
            <a:ext cx="45600" cy="132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800040" y="2580000"/>
            <a:ext cx="380100" cy="380100"/>
          </a:xfrm>
          <a:prstGeom prst="ellipse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4800040" y="2580000"/>
            <a:ext cx="380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5320040" y="2600000"/>
            <a:ext cx="3350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Compléter les données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5320040" y="2990000"/>
            <a:ext cx="335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Obtenir de l'éditeur du logiciel les prix et l'historique des stocks ; automatiser la saisie du stock en rayon, aujourd'hui manuelle.</a:t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320040" y="3950000"/>
            <a:ext cx="6650000" cy="56000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20040" y="3950000"/>
            <a:ext cx="64008" cy="56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520000" y="3950000"/>
            <a:ext cx="635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Limites : aucun prix, aucune distinction rupture / absence de demande, 8 groupes seulement. Données arrêtées au 8 octobre 2019.</a:t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7150000" y="3950000"/>
            <a:ext cx="1674000" cy="560000"/>
          </a:xfrm>
          <a:prstGeom prst="rect">
            <a:avLst/>
          </a:prstGeom>
          <a:solidFill>
            <a:srgbClr val="E3E9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7150000" y="3950000"/>
            <a:ext cx="45720" cy="560000"/>
          </a:xfrm>
          <a:prstGeom prst="rect">
            <a:avLst/>
          </a:prstGeom>
          <a:solidFill>
            <a:srgbClr val="00F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p5"/>
          <p:cNvGraphicFramePr/>
          <p:nvPr/>
        </p:nvGraphicFramePr>
        <p:xfrm>
          <a:off x="7250000" y="4020000"/>
          <a:ext cx="420000" cy="420000"/>
        </p:xfrm>
        <a:graphic>
          <a:graphicData uri="http://schemas.openxmlformats.org/presentationml/2006/ole">
            <mc:AlternateContent>
              <mc:Choice Requires="v">
                <p:oleObj r:id="rId4" imgH="420000" imgW="420000" progId="Excel.Sheet.12" spid="_x0000_s1">
                  <p:embed/>
                </p:oleObj>
              </mc:Choice>
              <mc:Fallback>
                <p:oleObj r:id="rId5" imgH="420000" imgW="420000" progId="Excel.Sheet.12">
                  <p:embed/>
                  <p:pic>
                    <p:nvPicPr>
                      <p:cNvPr id="253" name="Google Shape;253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50000" y="4020000"/>
                        <a:ext cx="420000" cy="42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" name="Google Shape;254;p5"/>
          <p:cNvSpPr txBox="1"/>
          <p:nvPr/>
        </p:nvSpPr>
        <p:spPr>
          <a:xfrm>
            <a:off x="7720000" y="3950000"/>
            <a:ext cx="108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13AFB"/>
                </a:solidFill>
                <a:latin typeface="Montserrat"/>
                <a:ea typeface="Montserrat"/>
                <a:cs typeface="Montserrat"/>
                <a:sym typeface="Montserrat"/>
              </a:rPr>
              <a:t>Outil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IBM Plex Sans"/>
                <a:ea typeface="IBM Plex Sans"/>
                <a:cs typeface="IBM Plex Sans"/>
                <a:sym typeface="IBM Plex Sans"/>
              </a:rPr>
              <a:t>Pharmacie_Analyse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